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PITCH DECK · V3 · APRIL 2026</a:t>
            </a:r>
          </a:p>
        </p:txBody>
      </p:sp>
      <p:sp>
        <p:nvSpPr>
          <p:cNvPr id="5" name="TextBox 4"/>
          <p:cNvSpPr txBox="1"/>
          <p:nvPr/>
        </p:nvSpPr>
        <p:spPr>
          <a:xfrm>
            <a:off x="1097280" y="1005840"/>
            <a:ext cx="10058400" cy="365760"/>
          </a:xfrm>
          <a:prstGeom prst="rect">
            <a:avLst/>
          </a:prstGeom>
          <a:noFill/>
        </p:spPr>
        <p:txBody>
          <a:bodyPr wrap="square" lIns="0" rIns="0" tIns="0" bIns="0" anchor="t">
            <a:spAutoFit/>
          </a:bodyPr>
          <a:lstStyle/>
          <a:p>
            <a:pPr algn="l">
              <a:lnSpc>
                <a:spcPct val="120000"/>
              </a:lnSpc>
            </a:pPr>
            <a:r>
              <a:rPr sz="1000" b="1" i="0" spc="200">
                <a:solidFill>
                  <a:srgbClr val="6E6E73"/>
                </a:solidFill>
                <a:latin typeface="Inter"/>
              </a:rPr>
              <a:t>FOR SMES WITH NON-CONTINUOUS AND DISCRETE BUSINESS SYSTEMS</a:t>
            </a:r>
          </a:p>
        </p:txBody>
      </p:sp>
      <p:sp>
        <p:nvSpPr>
          <p:cNvPr id="6" name="TextBox 5"/>
          <p:cNvSpPr txBox="1"/>
          <p:nvPr/>
        </p:nvSpPr>
        <p:spPr>
          <a:xfrm>
            <a:off x="1097280" y="1508760"/>
            <a:ext cx="10058400" cy="2743200"/>
          </a:xfrm>
          <a:prstGeom prst="rect">
            <a:avLst/>
          </a:prstGeom>
          <a:noFill/>
        </p:spPr>
        <p:txBody>
          <a:bodyPr wrap="square" lIns="0" rIns="0" tIns="0" bIns="0" anchor="t">
            <a:spAutoFit/>
          </a:bodyPr>
          <a:lstStyle/>
          <a:p>
            <a:pPr algn="l">
              <a:lnSpc>
                <a:spcPct val="105000"/>
              </a:lnSpc>
            </a:pPr>
            <a:r>
              <a:rPr sz="6400" b="1" i="0">
                <a:solidFill>
                  <a:srgbClr val="1D1D1F"/>
                </a:solidFill>
                <a:latin typeface="Inter"/>
              </a:rPr>
              <a:t>Own the system</a:t>
            </a:r>
          </a:p>
          <a:p>
            <a:pPr algn="l">
              <a:lnSpc>
                <a:spcPct val="105000"/>
              </a:lnSpc>
            </a:pPr>
            <a:r>
              <a:rPr sz="6400" b="1" i="0">
                <a:solidFill>
                  <a:srgbClr val="1D1D1F"/>
                </a:solidFill>
                <a:latin typeface="Inter"/>
              </a:rPr>
              <a:t>that runs</a:t>
            </a:r>
          </a:p>
          <a:p>
            <a:pPr algn="l">
              <a:lnSpc>
                <a:spcPct val="105000"/>
              </a:lnSpc>
            </a:pPr>
            <a:r>
              <a:rPr sz="6400" b="1" i="1">
                <a:solidFill>
                  <a:srgbClr val="0071E3"/>
                </a:solidFill>
                <a:latin typeface="Inter"/>
              </a:rPr>
              <a:t>your business.</a:t>
            </a:r>
          </a:p>
        </p:txBody>
      </p:sp>
      <p:sp>
        <p:nvSpPr>
          <p:cNvPr id="7" name="TextBox 6"/>
          <p:cNvSpPr txBox="1"/>
          <p:nvPr/>
        </p:nvSpPr>
        <p:spPr>
          <a:xfrm>
            <a:off x="1097280" y="4434840"/>
            <a:ext cx="9144000" cy="914400"/>
          </a:xfrm>
          <a:prstGeom prst="rect">
            <a:avLst/>
          </a:prstGeom>
          <a:noFill/>
        </p:spPr>
        <p:txBody>
          <a:bodyPr wrap="square" lIns="0" rIns="0" tIns="0" bIns="0" anchor="t">
            <a:spAutoFit/>
          </a:bodyPr>
          <a:lstStyle/>
          <a:p>
            <a:pPr algn="l">
              <a:lnSpc>
                <a:spcPct val="140000"/>
              </a:lnSpc>
            </a:pPr>
            <a:r>
              <a:rPr sz="1400" b="0" i="0">
                <a:solidFill>
                  <a:srgbClr val="6E6E73"/>
                </a:solidFill>
                <a:latin typeface="Inter"/>
              </a:rPr>
              <a:t>No lock-in. No subscription. No vendor dependency.</a:t>
            </a:r>
          </a:p>
          <a:p>
            <a:pPr algn="l">
              <a:lnSpc>
                <a:spcPct val="140000"/>
              </a:lnSpc>
            </a:pPr>
            <a:r>
              <a:rPr sz="1400" b="0" i="0">
                <a:solidFill>
                  <a:srgbClr val="6E6E73"/>
                </a:solidFill>
                <a:latin typeface="Inter"/>
              </a:rPr>
              <a:t>Cost-efficient software and hardware, self-manageable by your own employees.</a:t>
            </a:r>
          </a:p>
        </p:txBody>
      </p:sp>
      <p:sp>
        <p:nvSpPr>
          <p:cNvPr id="8" name="TextBox 7"/>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BUILT FOR THE ONES STILL STANDING.</a:t>
            </a:r>
          </a:p>
        </p:txBody>
      </p:sp>
      <p:sp>
        <p:nvSpPr>
          <p:cNvPr id="9" name="TextBox 8"/>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1D1D1F"/>
                </a:solidFill>
                <a:latin typeface="Inter"/>
              </a:rPr>
              <a:t>00 </a:t>
            </a:r>
            <a:r>
              <a:rPr sz="1000" b="1" i="0" spc="160">
                <a:solidFill>
                  <a:srgbClr val="86868B"/>
                </a:solidFill>
                <a:latin typeface="Inter"/>
              </a:rPr>
              <a:t>/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ABOUT · 01</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ABOUT US</a:t>
            </a:r>
          </a:p>
        </p:txBody>
      </p:sp>
      <p:sp>
        <p:nvSpPr>
          <p:cNvPr id="7" name="TextBox 6"/>
          <p:cNvSpPr txBox="1"/>
          <p:nvPr/>
        </p:nvSpPr>
        <p:spPr>
          <a:xfrm>
            <a:off x="1097280" y="1371600"/>
            <a:ext cx="10058400" cy="2377440"/>
          </a:xfrm>
          <a:prstGeom prst="rect">
            <a:avLst/>
          </a:prstGeom>
          <a:noFill/>
        </p:spPr>
        <p:txBody>
          <a:bodyPr wrap="square" lIns="0" rIns="0" tIns="0" bIns="0" anchor="t">
            <a:spAutoFit/>
          </a:bodyPr>
          <a:lstStyle/>
          <a:p>
            <a:pPr algn="l">
              <a:lnSpc>
                <a:spcPct val="130000"/>
              </a:lnSpc>
            </a:pPr>
            <a:r>
              <a:rPr sz="2200" b="1" i="0">
                <a:solidFill>
                  <a:srgbClr val="1D1D1F"/>
                </a:solidFill>
                <a:latin typeface="Inter"/>
              </a:rPr>
              <a:t>Velo Working helps SMEs with non-continuous and discrete business systems</a:t>
            </a:r>
            <a:r>
              <a:rPr sz="2200" b="0" i="0">
                <a:solidFill>
                  <a:srgbClr val="1D1D1F"/>
                </a:solidFill>
                <a:latin typeface="Inter"/>
              </a:rPr>
              <a:t> — providing a full solution in automating and digitising their operations, by setting up </a:t>
            </a:r>
            <a:r>
              <a:rPr sz="2200" b="1" i="0">
                <a:solidFill>
                  <a:srgbClr val="1D1D1F"/>
                </a:solidFill>
                <a:latin typeface="Inter"/>
              </a:rPr>
              <a:t>no-code-based software and hardware</a:t>
            </a:r>
            <a:r>
              <a:rPr sz="2200" b="0" i="0">
                <a:solidFill>
                  <a:srgbClr val="1D1D1F"/>
                </a:solidFill>
                <a:latin typeface="Inter"/>
              </a:rPr>
              <a:t> that is </a:t>
            </a:r>
            <a:r>
              <a:rPr sz="2200" b="1" i="0">
                <a:solidFill>
                  <a:srgbClr val="1D1D1F"/>
                </a:solidFill>
                <a:latin typeface="Inter"/>
              </a:rPr>
              <a:t>cost-efficient</a:t>
            </a:r>
            <a:r>
              <a:rPr sz="2200" b="0" i="0">
                <a:solidFill>
                  <a:srgbClr val="1D1D1F"/>
                </a:solidFill>
                <a:latin typeface="Inter"/>
              </a:rPr>
              <a:t> and </a:t>
            </a:r>
            <a:r>
              <a:rPr sz="2200" b="1" i="0">
                <a:solidFill>
                  <a:srgbClr val="1D1D1F"/>
                </a:solidFill>
                <a:latin typeface="Inter"/>
              </a:rPr>
              <a:t>self-manageable by their own employees</a:t>
            </a:r>
            <a:r>
              <a:rPr sz="2200" b="0" i="0">
                <a:solidFill>
                  <a:srgbClr val="1D1D1F"/>
                </a:solidFill>
                <a:latin typeface="Inter"/>
              </a:rPr>
              <a:t>.</a:t>
            </a:r>
          </a:p>
        </p:txBody>
      </p:sp>
      <p:sp>
        <p:nvSpPr>
          <p:cNvPr id="8" name="TextBox 7"/>
          <p:cNvSpPr txBox="1"/>
          <p:nvPr/>
        </p:nvSpPr>
        <p:spPr>
          <a:xfrm>
            <a:off x="1097280" y="4297680"/>
            <a:ext cx="5029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THE RESULT — IN THE OWNER'S OWN WORDS</a:t>
            </a:r>
          </a:p>
        </p:txBody>
      </p:sp>
      <p:sp>
        <p:nvSpPr>
          <p:cNvPr id="9" name="TextBox 8"/>
          <p:cNvSpPr txBox="1"/>
          <p:nvPr/>
        </p:nvSpPr>
        <p:spPr>
          <a:xfrm>
            <a:off x="1097280" y="4617720"/>
            <a:ext cx="5029200" cy="1554480"/>
          </a:xfrm>
          <a:prstGeom prst="rect">
            <a:avLst/>
          </a:prstGeom>
          <a:noFill/>
        </p:spPr>
        <p:txBody>
          <a:bodyPr wrap="square" lIns="0" rIns="0" tIns="0" bIns="0" anchor="t">
            <a:spAutoFit/>
          </a:bodyPr>
          <a:lstStyle/>
          <a:p>
            <a:pPr algn="l">
              <a:lnSpc>
                <a:spcPct val="140000"/>
              </a:lnSpc>
            </a:pPr>
            <a:r>
              <a:rPr sz="1400" b="0" i="1">
                <a:solidFill>
                  <a:srgbClr val="6E6E73"/>
                </a:solidFill>
                <a:latin typeface="Inter"/>
              </a:rPr>
              <a:t>Stops finding out problems after the damage is done.</a:t>
            </a:r>
          </a:p>
          <a:p>
            <a:pPr algn="l">
              <a:lnSpc>
                <a:spcPct val="140000"/>
              </a:lnSpc>
            </a:pPr>
            <a:r>
              <a:rPr sz="1400" b="0" i="1">
                <a:solidFill>
                  <a:srgbClr val="6E6E73"/>
                </a:solidFill>
                <a:latin typeface="Inter"/>
              </a:rPr>
              <a:t>Stops guessing if the numbers are real.</a:t>
            </a:r>
          </a:p>
          <a:p>
            <a:pPr algn="l">
              <a:lnSpc>
                <a:spcPct val="140000"/>
              </a:lnSpc>
            </a:pPr>
            <a:r>
              <a:rPr sz="1400" b="0" i="1">
                <a:solidFill>
                  <a:srgbClr val="6E6E73"/>
                </a:solidFill>
                <a:latin typeface="Inter"/>
              </a:rPr>
              <a:t>Stops losing everything every time someone walks out the door.</a:t>
            </a:r>
          </a:p>
        </p:txBody>
      </p:sp>
      <p:sp>
        <p:nvSpPr>
          <p:cNvPr id="10" name="Rounded Rectangle 9"/>
          <p:cNvSpPr/>
          <p:nvPr/>
        </p:nvSpPr>
        <p:spPr>
          <a:xfrm>
            <a:off x="6766560" y="4297680"/>
            <a:ext cx="4297680" cy="1645920"/>
          </a:xfrm>
          <a:prstGeom prst="roundRect">
            <a:avLst>
              <a:gd name="adj" fmla="val 1388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66560" y="4297680"/>
            <a:ext cx="38100" cy="164592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526280"/>
            <a:ext cx="3840480" cy="1280160"/>
          </a:xfrm>
          <a:prstGeom prst="rect">
            <a:avLst/>
          </a:prstGeom>
          <a:noFill/>
        </p:spPr>
        <p:txBody>
          <a:bodyPr wrap="square" lIns="0" rIns="0" tIns="0" bIns="0" anchor="t">
            <a:spAutoFit/>
          </a:bodyPr>
          <a:lstStyle/>
          <a:p>
            <a:pPr algn="l">
              <a:lnSpc>
                <a:spcPct val="130000"/>
              </a:lnSpc>
            </a:pPr>
            <a:r>
              <a:rPr sz="1400" b="0" i="1">
                <a:solidFill>
                  <a:srgbClr val="0071E3"/>
                </a:solidFill>
                <a:latin typeface="Inter"/>
              </a:rPr>
              <a:t>We sell the labour. You own everything else — the software, the data, the server, the workflows.</a:t>
            </a:r>
          </a:p>
        </p:txBody>
      </p:sp>
      <p:sp>
        <p:nvSpPr>
          <p:cNvPr id="13" name="TextBox 12"/>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ONE SENTENCE. THE WHOLE POSITIONING.</a:t>
            </a:r>
          </a:p>
        </p:txBody>
      </p:sp>
      <p:sp>
        <p:nvSpPr>
          <p:cNvPr id="14" name="TextBox 13"/>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01 </a:t>
            </a:r>
            <a:r>
              <a:rPr sz="1000" b="1" i="0" spc="160">
                <a:solidFill>
                  <a:srgbClr val="86868B"/>
                </a:solidFill>
                <a:latin typeface="Inter"/>
              </a:rPr>
              <a:t>/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ORDINARY WORLD · 02</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THE GROUND BENEATH THE ECONOMY</a:t>
            </a:r>
          </a:p>
        </p:txBody>
      </p:sp>
      <p:sp>
        <p:nvSpPr>
          <p:cNvPr id="7" name="TextBox 6"/>
          <p:cNvSpPr txBox="1"/>
          <p:nvPr/>
        </p:nvSpPr>
        <p:spPr>
          <a:xfrm>
            <a:off x="1097280" y="1371600"/>
            <a:ext cx="10058400" cy="2011680"/>
          </a:xfrm>
          <a:prstGeom prst="rect">
            <a:avLst/>
          </a:prstGeom>
          <a:noFill/>
        </p:spPr>
        <p:txBody>
          <a:bodyPr wrap="square" lIns="0" rIns="0" tIns="0" bIns="0" anchor="t">
            <a:spAutoFit/>
          </a:bodyPr>
          <a:lstStyle/>
          <a:p>
            <a:pPr algn="l">
              <a:lnSpc>
                <a:spcPct val="105000"/>
              </a:lnSpc>
            </a:pPr>
            <a:r>
              <a:rPr sz="4200" b="1" i="0">
                <a:solidFill>
                  <a:srgbClr val="1D1D1F"/>
                </a:solidFill>
                <a:latin typeface="Inter"/>
              </a:rPr>
              <a:t>SMEs aren't a footnote</a:t>
            </a:r>
          </a:p>
          <a:p>
            <a:pPr algn="l">
              <a:lnSpc>
                <a:spcPct val="105000"/>
              </a:lnSpc>
            </a:pPr>
            <a:r>
              <a:rPr sz="4200" b="1" i="0">
                <a:solidFill>
                  <a:srgbClr val="1D1D1F"/>
                </a:solidFill>
                <a:latin typeface="Inter"/>
              </a:rPr>
              <a:t>to the economy.</a:t>
            </a:r>
          </a:p>
          <a:p>
            <a:pPr algn="l">
              <a:lnSpc>
                <a:spcPct val="105000"/>
              </a:lnSpc>
            </a:pPr>
            <a:r>
              <a:rPr sz="4200" b="1" i="1">
                <a:solidFill>
                  <a:srgbClr val="0071E3"/>
                </a:solidFill>
                <a:latin typeface="Inter"/>
              </a:rPr>
              <a:t>They are the economy.</a:t>
            </a:r>
          </a:p>
        </p:txBody>
      </p:sp>
      <p:sp>
        <p:nvSpPr>
          <p:cNvPr id="8" name="TextBox 7"/>
          <p:cNvSpPr txBox="1"/>
          <p:nvPr/>
        </p:nvSpPr>
        <p:spPr>
          <a:xfrm>
            <a:off x="1097280" y="4297680"/>
            <a:ext cx="2316403" cy="914400"/>
          </a:xfrm>
          <a:prstGeom prst="rect">
            <a:avLst/>
          </a:prstGeom>
          <a:noFill/>
        </p:spPr>
        <p:txBody>
          <a:bodyPr wrap="square" lIns="0" rIns="0" tIns="0" bIns="0" anchor="t">
            <a:spAutoFit/>
          </a:bodyPr>
          <a:lstStyle/>
          <a:p>
            <a:pPr algn="l">
              <a:lnSpc>
                <a:spcPct val="120000"/>
              </a:lnSpc>
            </a:pPr>
            <a:r>
              <a:rPr sz="6400" b="1" i="0">
                <a:solidFill>
                  <a:srgbClr val="1D1D1F"/>
                </a:solidFill>
                <a:latin typeface="Inter"/>
              </a:rPr>
              <a:t>99%</a:t>
            </a:r>
          </a:p>
        </p:txBody>
      </p:sp>
      <p:sp>
        <p:nvSpPr>
          <p:cNvPr id="9" name="TextBox 8"/>
          <p:cNvSpPr txBox="1"/>
          <p:nvPr/>
        </p:nvSpPr>
        <p:spPr>
          <a:xfrm>
            <a:off x="1097280" y="521208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all enterprises in Singapore are SMEs.</a:t>
            </a:r>
          </a:p>
        </p:txBody>
      </p:sp>
      <p:sp>
        <p:nvSpPr>
          <p:cNvPr id="10" name="TextBox 9"/>
          <p:cNvSpPr txBox="1"/>
          <p:nvPr/>
        </p:nvSpPr>
        <p:spPr>
          <a:xfrm>
            <a:off x="1097280" y="603504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ENTERPRISE SINGAPORE</a:t>
            </a:r>
          </a:p>
        </p:txBody>
      </p:sp>
      <p:sp>
        <p:nvSpPr>
          <p:cNvPr id="11" name="TextBox 10"/>
          <p:cNvSpPr txBox="1"/>
          <p:nvPr/>
        </p:nvSpPr>
        <p:spPr>
          <a:xfrm>
            <a:off x="3596563" y="4297680"/>
            <a:ext cx="2316403" cy="914400"/>
          </a:xfrm>
          <a:prstGeom prst="rect">
            <a:avLst/>
          </a:prstGeom>
          <a:noFill/>
        </p:spPr>
        <p:txBody>
          <a:bodyPr wrap="square" lIns="0" rIns="0" tIns="0" bIns="0" anchor="t">
            <a:spAutoFit/>
          </a:bodyPr>
          <a:lstStyle/>
          <a:p>
            <a:pPr algn="l">
              <a:lnSpc>
                <a:spcPct val="120000"/>
              </a:lnSpc>
            </a:pPr>
            <a:r>
              <a:rPr sz="6400" b="1" i="0">
                <a:solidFill>
                  <a:srgbClr val="1D1D1F"/>
                </a:solidFill>
                <a:latin typeface="Inter"/>
              </a:rPr>
              <a:t>70%</a:t>
            </a:r>
          </a:p>
        </p:txBody>
      </p:sp>
      <p:sp>
        <p:nvSpPr>
          <p:cNvPr id="12" name="TextBox 11"/>
          <p:cNvSpPr txBox="1"/>
          <p:nvPr/>
        </p:nvSpPr>
        <p:spPr>
          <a:xfrm>
            <a:off x="3596563" y="521208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Singapore's workforce is employed by SMEs.</a:t>
            </a:r>
          </a:p>
        </p:txBody>
      </p:sp>
      <p:sp>
        <p:nvSpPr>
          <p:cNvPr id="13" name="TextBox 12"/>
          <p:cNvSpPr txBox="1"/>
          <p:nvPr/>
        </p:nvSpPr>
        <p:spPr>
          <a:xfrm>
            <a:off x="3596563" y="603504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MTI 2025</a:t>
            </a:r>
          </a:p>
        </p:txBody>
      </p:sp>
      <p:sp>
        <p:nvSpPr>
          <p:cNvPr id="14" name="TextBox 13"/>
          <p:cNvSpPr txBox="1"/>
          <p:nvPr/>
        </p:nvSpPr>
        <p:spPr>
          <a:xfrm>
            <a:off x="6095847" y="4297680"/>
            <a:ext cx="2316403" cy="914400"/>
          </a:xfrm>
          <a:prstGeom prst="rect">
            <a:avLst/>
          </a:prstGeom>
          <a:noFill/>
        </p:spPr>
        <p:txBody>
          <a:bodyPr wrap="square" lIns="0" rIns="0" tIns="0" bIns="0" anchor="t">
            <a:spAutoFit/>
          </a:bodyPr>
          <a:lstStyle/>
          <a:p>
            <a:pPr algn="l">
              <a:lnSpc>
                <a:spcPct val="120000"/>
              </a:lnSpc>
            </a:pPr>
            <a:r>
              <a:rPr sz="6400" b="1" i="0">
                <a:solidFill>
                  <a:srgbClr val="1D1D1F"/>
                </a:solidFill>
                <a:latin typeface="Inter"/>
              </a:rPr>
              <a:t>97%</a:t>
            </a:r>
          </a:p>
        </p:txBody>
      </p:sp>
      <p:sp>
        <p:nvSpPr>
          <p:cNvPr id="15" name="TextBox 14"/>
          <p:cNvSpPr txBox="1"/>
          <p:nvPr/>
        </p:nvSpPr>
        <p:spPr>
          <a:xfrm>
            <a:off x="6095847" y="521208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all enterprises in Malaysia are SMEs.</a:t>
            </a:r>
          </a:p>
        </p:txBody>
      </p:sp>
      <p:sp>
        <p:nvSpPr>
          <p:cNvPr id="16" name="TextBox 15"/>
          <p:cNvSpPr txBox="1"/>
          <p:nvPr/>
        </p:nvSpPr>
        <p:spPr>
          <a:xfrm>
            <a:off x="6095847" y="603504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SME CORP MALAYSIA</a:t>
            </a:r>
          </a:p>
        </p:txBody>
      </p:sp>
      <p:sp>
        <p:nvSpPr>
          <p:cNvPr id="17" name="TextBox 16"/>
          <p:cNvSpPr txBox="1"/>
          <p:nvPr/>
        </p:nvSpPr>
        <p:spPr>
          <a:xfrm>
            <a:off x="8595131" y="4297680"/>
            <a:ext cx="2316403" cy="914400"/>
          </a:xfrm>
          <a:prstGeom prst="rect">
            <a:avLst/>
          </a:prstGeom>
          <a:noFill/>
        </p:spPr>
        <p:txBody>
          <a:bodyPr wrap="square" lIns="0" rIns="0" tIns="0" bIns="0" anchor="t">
            <a:spAutoFit/>
          </a:bodyPr>
          <a:lstStyle/>
          <a:p>
            <a:pPr algn="l">
              <a:lnSpc>
                <a:spcPct val="120000"/>
              </a:lnSpc>
            </a:pPr>
            <a:r>
              <a:rPr sz="6400" b="1" i="0">
                <a:solidFill>
                  <a:srgbClr val="1D1D1F"/>
                </a:solidFill>
                <a:latin typeface="Inter"/>
              </a:rPr>
              <a:t>~48%</a:t>
            </a:r>
          </a:p>
        </p:txBody>
      </p:sp>
      <p:sp>
        <p:nvSpPr>
          <p:cNvPr id="18" name="TextBox 17"/>
          <p:cNvSpPr txBox="1"/>
          <p:nvPr/>
        </p:nvSpPr>
        <p:spPr>
          <a:xfrm>
            <a:off x="8595131" y="521208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combined GDP contribution across Singapore and Malaysia.</a:t>
            </a:r>
          </a:p>
        </p:txBody>
      </p:sp>
      <p:sp>
        <p:nvSpPr>
          <p:cNvPr id="19" name="TextBox 18"/>
          <p:cNvSpPr txBox="1"/>
          <p:nvPr/>
        </p:nvSpPr>
        <p:spPr>
          <a:xfrm>
            <a:off x="8595131" y="603504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MTI / BNM 2025</a:t>
            </a:r>
          </a:p>
        </p:txBody>
      </p:sp>
      <p:sp>
        <p:nvSpPr>
          <p:cNvPr id="20" name="TextBox 19"/>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PRECISION MACHINISTS. SECOND-GEN TRADERS. STAMPING SHOPS. THE ENGINE OF THE ECONOMY.</a:t>
            </a:r>
          </a:p>
        </p:txBody>
      </p:sp>
      <p:sp>
        <p:nvSpPr>
          <p:cNvPr id="21" name="TextBox 20"/>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02 </a:t>
            </a:r>
            <a:r>
              <a:rPr sz="1000" b="1" i="0" spc="160">
                <a:solidFill>
                  <a:srgbClr val="86868B"/>
                </a:solidFill>
                <a:latin typeface="Inter"/>
              </a:rPr>
              <a:t>/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PARADOX · 03</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RESEARCH · WHY DIGITALISATION RARELY STICKS</a:t>
            </a:r>
          </a:p>
        </p:txBody>
      </p:sp>
      <p:sp>
        <p:nvSpPr>
          <p:cNvPr id="7" name="TextBox 6"/>
          <p:cNvSpPr txBox="1"/>
          <p:nvPr/>
        </p:nvSpPr>
        <p:spPr>
          <a:xfrm>
            <a:off x="1097280" y="1371600"/>
            <a:ext cx="10058400" cy="1645920"/>
          </a:xfrm>
          <a:prstGeom prst="rect">
            <a:avLst/>
          </a:prstGeom>
          <a:noFill/>
        </p:spPr>
        <p:txBody>
          <a:bodyPr wrap="square" lIns="0" rIns="0" tIns="0" bIns="0" anchor="t">
            <a:spAutoFit/>
          </a:bodyPr>
          <a:lstStyle/>
          <a:p>
            <a:pPr algn="l">
              <a:lnSpc>
                <a:spcPct val="105000"/>
              </a:lnSpc>
            </a:pPr>
            <a:r>
              <a:rPr sz="4000" b="1" i="0">
                <a:solidFill>
                  <a:srgbClr val="1D1D1F"/>
                </a:solidFill>
                <a:latin typeface="Inter"/>
              </a:rPr>
              <a:t>They want it.</a:t>
            </a:r>
          </a:p>
          <a:p>
            <a:pPr algn="l">
              <a:lnSpc>
                <a:spcPct val="105000"/>
              </a:lnSpc>
            </a:pPr>
            <a:r>
              <a:rPr sz="4000" b="1" i="1">
                <a:solidFill>
                  <a:srgbClr val="0071E3"/>
                </a:solidFill>
                <a:latin typeface="Inter"/>
              </a:rPr>
              <a:t>Very few make it stick.</a:t>
            </a:r>
          </a:p>
        </p:txBody>
      </p:sp>
      <p:sp>
        <p:nvSpPr>
          <p:cNvPr id="8" name="TextBox 7"/>
          <p:cNvSpPr txBox="1"/>
          <p:nvPr/>
        </p:nvSpPr>
        <p:spPr>
          <a:xfrm>
            <a:off x="1097280" y="3520440"/>
            <a:ext cx="2316403" cy="822960"/>
          </a:xfrm>
          <a:prstGeom prst="rect">
            <a:avLst/>
          </a:prstGeom>
          <a:noFill/>
        </p:spPr>
        <p:txBody>
          <a:bodyPr wrap="square" lIns="0" rIns="0" tIns="0" bIns="0" anchor="t">
            <a:spAutoFit/>
          </a:bodyPr>
          <a:lstStyle/>
          <a:p>
            <a:pPr algn="l">
              <a:lnSpc>
                <a:spcPct val="120000"/>
              </a:lnSpc>
            </a:pPr>
            <a:r>
              <a:rPr sz="5400" b="1" i="0">
                <a:solidFill>
                  <a:srgbClr val="1D1D1F"/>
                </a:solidFill>
                <a:latin typeface="Inter"/>
              </a:rPr>
              <a:t>83%</a:t>
            </a:r>
          </a:p>
        </p:txBody>
      </p:sp>
      <p:sp>
        <p:nvSpPr>
          <p:cNvPr id="9" name="TextBox 8"/>
          <p:cNvSpPr txBox="1"/>
          <p:nvPr/>
        </p:nvSpPr>
        <p:spPr>
          <a:xfrm>
            <a:off x="1097280" y="438912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SMEs in Singapore have a digital transformation strategy in place.</a:t>
            </a:r>
          </a:p>
        </p:txBody>
      </p:sp>
      <p:sp>
        <p:nvSpPr>
          <p:cNvPr id="10" name="TextBox 9"/>
          <p:cNvSpPr txBox="1"/>
          <p:nvPr/>
        </p:nvSpPr>
        <p:spPr>
          <a:xfrm>
            <a:off x="1097280" y="521208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ASME · SME DIGITAL STUDY</a:t>
            </a:r>
          </a:p>
        </p:txBody>
      </p:sp>
      <p:sp>
        <p:nvSpPr>
          <p:cNvPr id="11" name="TextBox 10"/>
          <p:cNvSpPr txBox="1"/>
          <p:nvPr/>
        </p:nvSpPr>
        <p:spPr>
          <a:xfrm>
            <a:off x="3596563" y="3520440"/>
            <a:ext cx="2316403" cy="822960"/>
          </a:xfrm>
          <a:prstGeom prst="rect">
            <a:avLst/>
          </a:prstGeom>
          <a:noFill/>
        </p:spPr>
        <p:txBody>
          <a:bodyPr wrap="square" lIns="0" rIns="0" tIns="0" bIns="0" anchor="t">
            <a:spAutoFit/>
          </a:bodyPr>
          <a:lstStyle/>
          <a:p>
            <a:pPr algn="l">
              <a:lnSpc>
                <a:spcPct val="120000"/>
              </a:lnSpc>
            </a:pPr>
            <a:r>
              <a:rPr sz="5400" b="1" i="0">
                <a:solidFill>
                  <a:srgbClr val="1D1D1F"/>
                </a:solidFill>
                <a:latin typeface="Inter"/>
              </a:rPr>
              <a:t>~40%</a:t>
            </a:r>
          </a:p>
        </p:txBody>
      </p:sp>
      <p:sp>
        <p:nvSpPr>
          <p:cNvPr id="12" name="TextBox 11"/>
          <p:cNvSpPr txBox="1"/>
          <p:nvPr/>
        </p:nvSpPr>
        <p:spPr>
          <a:xfrm>
            <a:off x="3596563" y="438912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those SMEs consider their digital efforts a success.</a:t>
            </a:r>
          </a:p>
        </p:txBody>
      </p:sp>
      <p:sp>
        <p:nvSpPr>
          <p:cNvPr id="13" name="TextBox 12"/>
          <p:cNvSpPr txBox="1"/>
          <p:nvPr/>
        </p:nvSpPr>
        <p:spPr>
          <a:xfrm>
            <a:off x="3596563" y="521208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ASME · SME DIGITAL STUDY</a:t>
            </a:r>
          </a:p>
        </p:txBody>
      </p:sp>
      <p:sp>
        <p:nvSpPr>
          <p:cNvPr id="14" name="TextBox 13"/>
          <p:cNvSpPr txBox="1"/>
          <p:nvPr/>
        </p:nvSpPr>
        <p:spPr>
          <a:xfrm>
            <a:off x="6095847" y="3520440"/>
            <a:ext cx="2316403" cy="822960"/>
          </a:xfrm>
          <a:prstGeom prst="rect">
            <a:avLst/>
          </a:prstGeom>
          <a:noFill/>
        </p:spPr>
        <p:txBody>
          <a:bodyPr wrap="square" lIns="0" rIns="0" tIns="0" bIns="0" anchor="t">
            <a:spAutoFit/>
          </a:bodyPr>
          <a:lstStyle/>
          <a:p>
            <a:pPr algn="l">
              <a:lnSpc>
                <a:spcPct val="120000"/>
              </a:lnSpc>
            </a:pPr>
            <a:r>
              <a:rPr sz="5400" b="1" i="0">
                <a:solidFill>
                  <a:srgbClr val="1D1D1F"/>
                </a:solidFill>
                <a:latin typeface="Inter"/>
              </a:rPr>
              <a:t>70–85%</a:t>
            </a:r>
          </a:p>
        </p:txBody>
      </p:sp>
      <p:sp>
        <p:nvSpPr>
          <p:cNvPr id="15" name="TextBox 14"/>
          <p:cNvSpPr txBox="1"/>
          <p:nvPr/>
        </p:nvSpPr>
        <p:spPr>
          <a:xfrm>
            <a:off x="6095847" y="438912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ERP projects fail on cost, schedule, or fit with the actual business.</a:t>
            </a:r>
          </a:p>
        </p:txBody>
      </p:sp>
      <p:sp>
        <p:nvSpPr>
          <p:cNvPr id="16" name="TextBox 15"/>
          <p:cNvSpPr txBox="1"/>
          <p:nvPr/>
        </p:nvSpPr>
        <p:spPr>
          <a:xfrm>
            <a:off x="6095847" y="521208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PEER-REVIEWED ERP RESEARCH</a:t>
            </a:r>
          </a:p>
        </p:txBody>
      </p:sp>
      <p:sp>
        <p:nvSpPr>
          <p:cNvPr id="17" name="TextBox 16"/>
          <p:cNvSpPr txBox="1"/>
          <p:nvPr/>
        </p:nvSpPr>
        <p:spPr>
          <a:xfrm>
            <a:off x="8595131" y="3520440"/>
            <a:ext cx="2316403" cy="822960"/>
          </a:xfrm>
          <a:prstGeom prst="rect">
            <a:avLst/>
          </a:prstGeom>
          <a:noFill/>
        </p:spPr>
        <p:txBody>
          <a:bodyPr wrap="square" lIns="0" rIns="0" tIns="0" bIns="0" anchor="t">
            <a:spAutoFit/>
          </a:bodyPr>
          <a:lstStyle/>
          <a:p>
            <a:pPr algn="l">
              <a:lnSpc>
                <a:spcPct val="120000"/>
              </a:lnSpc>
            </a:pPr>
            <a:r>
              <a:rPr sz="5400" b="1" i="0">
                <a:solidFill>
                  <a:srgbClr val="1D1D1F"/>
                </a:solidFill>
                <a:latin typeface="Inter"/>
              </a:rPr>
              <a:t>58%</a:t>
            </a:r>
          </a:p>
        </p:txBody>
      </p:sp>
      <p:sp>
        <p:nvSpPr>
          <p:cNvPr id="18" name="TextBox 17"/>
          <p:cNvSpPr txBox="1"/>
          <p:nvPr/>
        </p:nvSpPr>
        <p:spPr>
          <a:xfrm>
            <a:off x="8595131" y="4389120"/>
            <a:ext cx="2316403" cy="82296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of SG businesses cite high cost of technology adoption as the primary barrier.</a:t>
            </a:r>
          </a:p>
        </p:txBody>
      </p:sp>
      <p:sp>
        <p:nvSpPr>
          <p:cNvPr id="19" name="TextBox 18"/>
          <p:cNvSpPr txBox="1"/>
          <p:nvPr/>
        </p:nvSpPr>
        <p:spPr>
          <a:xfrm>
            <a:off x="8595131" y="5212080"/>
            <a:ext cx="2316403"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SBF BUSINESS SURVEY 2025</a:t>
            </a:r>
          </a:p>
        </p:txBody>
      </p:sp>
      <p:sp>
        <p:nvSpPr>
          <p:cNvPr id="20" name="Rounded Rectangle 19"/>
          <p:cNvSpPr/>
          <p:nvPr/>
        </p:nvSpPr>
        <p:spPr>
          <a:xfrm>
            <a:off x="1097280" y="5532120"/>
            <a:ext cx="10058400" cy="777240"/>
          </a:xfrm>
          <a:prstGeom prst="roundRect">
            <a:avLst>
              <a:gd name="adj" fmla="val 29411"/>
            </a:avLst>
          </a:prstGeom>
          <a:solidFill>
            <a:srgbClr val="FFFFFF"/>
          </a:solidFill>
          <a:ln w="9525">
            <a:solidFill>
              <a:srgbClr val="007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5669280"/>
            <a:ext cx="9601200" cy="502920"/>
          </a:xfrm>
          <a:prstGeom prst="rect">
            <a:avLst/>
          </a:prstGeom>
          <a:noFill/>
        </p:spPr>
        <p:txBody>
          <a:bodyPr wrap="square" lIns="0" rIns="0" tIns="0" bIns="0" anchor="t">
            <a:spAutoFit/>
          </a:bodyPr>
          <a:lstStyle/>
          <a:p>
            <a:pPr algn="l">
              <a:lnSpc>
                <a:spcPct val="130000"/>
              </a:lnSpc>
            </a:pPr>
            <a:r>
              <a:rPr sz="1400" b="0" i="1">
                <a:solidFill>
                  <a:srgbClr val="0071E3"/>
                </a:solidFill>
                <a:latin typeface="Inter"/>
              </a:rPr>
              <a:t>The intent is there. The outcome rarely is. Between the strategy deck and the shop floor — something breaks.</a:t>
            </a:r>
          </a:p>
        </p:txBody>
      </p:sp>
      <p:sp>
        <p:nvSpPr>
          <p:cNvPr id="22" name="TextBox 21"/>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STRATEGY ON PAPER. NO EXECUTION ON THE GROUND.</a:t>
            </a:r>
          </a:p>
        </p:txBody>
      </p:sp>
      <p:sp>
        <p:nvSpPr>
          <p:cNvPr id="23" name="TextBox 22"/>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03 </a:t>
            </a:r>
            <a:r>
              <a:rPr sz="1000" b="1" i="0" spc="160">
                <a:solidFill>
                  <a:srgbClr val="86868B"/>
                </a:solidFill>
                <a:latin typeface="Inter"/>
              </a:rPr>
              <a:t>/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UNSERVED MARKET · 04</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THE MARKET GAP</a:t>
            </a:r>
          </a:p>
        </p:txBody>
      </p:sp>
      <p:sp>
        <p:nvSpPr>
          <p:cNvPr id="7" name="TextBox 6"/>
          <p:cNvSpPr txBox="1"/>
          <p:nvPr/>
        </p:nvSpPr>
        <p:spPr>
          <a:xfrm>
            <a:off x="1097280" y="1371600"/>
            <a:ext cx="10515600" cy="1371600"/>
          </a:xfrm>
          <a:prstGeom prst="rect">
            <a:avLst/>
          </a:prstGeom>
          <a:noFill/>
        </p:spPr>
        <p:txBody>
          <a:bodyPr wrap="square" lIns="0" rIns="0" tIns="0" bIns="0" anchor="t">
            <a:spAutoFit/>
          </a:bodyPr>
          <a:lstStyle/>
          <a:p>
            <a:pPr algn="l">
              <a:lnSpc>
                <a:spcPct val="105000"/>
              </a:lnSpc>
            </a:pPr>
            <a:r>
              <a:rPr sz="3600" b="1" i="0">
                <a:solidFill>
                  <a:srgbClr val="1D1D1F"/>
                </a:solidFill>
                <a:latin typeface="Inter"/>
              </a:rPr>
              <a:t>Hundreds of thousands of SMEs.</a:t>
            </a:r>
          </a:p>
          <a:p>
            <a:pPr algn="l">
              <a:lnSpc>
                <a:spcPct val="105000"/>
              </a:lnSpc>
            </a:pPr>
            <a:r>
              <a:rPr sz="3600" b="1" i="1">
                <a:solidFill>
                  <a:srgbClr val="0071E3"/>
                </a:solidFill>
                <a:latin typeface="Inter"/>
              </a:rPr>
              <a:t>The biggest players still can't fit.</a:t>
            </a:r>
          </a:p>
        </p:txBody>
      </p:sp>
      <p:sp>
        <p:nvSpPr>
          <p:cNvPr id="8" name="TextBox 7"/>
          <p:cNvSpPr txBox="1"/>
          <p:nvPr/>
        </p:nvSpPr>
        <p:spPr>
          <a:xfrm>
            <a:off x="1097280" y="2743200"/>
            <a:ext cx="10515600" cy="731520"/>
          </a:xfrm>
          <a:prstGeom prst="rect">
            <a:avLst/>
          </a:prstGeom>
          <a:noFill/>
        </p:spPr>
        <p:txBody>
          <a:bodyPr wrap="square" lIns="0" rIns="0" tIns="0" bIns="0" anchor="t">
            <a:spAutoFit/>
          </a:bodyPr>
          <a:lstStyle/>
          <a:p>
            <a:pPr algn="l">
              <a:lnSpc>
                <a:spcPct val="145000"/>
              </a:lnSpc>
            </a:pPr>
            <a:r>
              <a:rPr sz="1300" b="0" i="0">
                <a:solidFill>
                  <a:srgbClr val="6E6E73"/>
                </a:solidFill>
                <a:latin typeface="Inter"/>
              </a:rPr>
              <a:t>The large ERP platforms, the Tier-1 consultancies, the global implementation partners — all focus elsewhere. Not because they don't see the SME market. Because their structure cannot serve it profitably.</a:t>
            </a:r>
          </a:p>
        </p:txBody>
      </p:sp>
      <p:sp>
        <p:nvSpPr>
          <p:cNvPr id="9" name="TextBox 8"/>
          <p:cNvSpPr txBox="1"/>
          <p:nvPr/>
        </p:nvSpPr>
        <p:spPr>
          <a:xfrm>
            <a:off x="1097280"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01</a:t>
            </a:r>
          </a:p>
        </p:txBody>
      </p:sp>
      <p:sp>
        <p:nvSpPr>
          <p:cNvPr id="10" name="TextBox 9"/>
          <p:cNvSpPr txBox="1"/>
          <p:nvPr/>
        </p:nvSpPr>
        <p:spPr>
          <a:xfrm>
            <a:off x="1097280" y="4206240"/>
            <a:ext cx="314949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Price floor.</a:t>
            </a:r>
          </a:p>
        </p:txBody>
      </p:sp>
      <p:sp>
        <p:nvSpPr>
          <p:cNvPr id="11" name="TextBox 10"/>
          <p:cNvSpPr txBox="1"/>
          <p:nvPr/>
        </p:nvSpPr>
        <p:spPr>
          <a:xfrm>
            <a:off x="1097280" y="4617720"/>
            <a:ext cx="3149498" cy="155448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Enterprise consultants charge S$200–550 per hour. Professional services typically run 100–200% of annual software licence fees. A 30-person SME cannot absorb a six-figure bill — and a Tier-1 vendor cannot profitably quote below its own fixed cost base.</a:t>
            </a:r>
          </a:p>
        </p:txBody>
      </p:sp>
      <p:sp>
        <p:nvSpPr>
          <p:cNvPr id="12" name="TextBox 11"/>
          <p:cNvSpPr txBox="1"/>
          <p:nvPr/>
        </p:nvSpPr>
        <p:spPr>
          <a:xfrm>
            <a:off x="1097280" y="5897880"/>
            <a:ext cx="3149498"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INDUSTRY RATES · PANORAMA CONSULTING</a:t>
            </a:r>
          </a:p>
        </p:txBody>
      </p:sp>
      <p:sp>
        <p:nvSpPr>
          <p:cNvPr id="13" name="TextBox 12"/>
          <p:cNvSpPr txBox="1"/>
          <p:nvPr/>
        </p:nvSpPr>
        <p:spPr>
          <a:xfrm>
            <a:off x="4429658"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02</a:t>
            </a:r>
          </a:p>
        </p:txBody>
      </p:sp>
      <p:sp>
        <p:nvSpPr>
          <p:cNvPr id="14" name="TextBox 13"/>
          <p:cNvSpPr txBox="1"/>
          <p:nvPr/>
        </p:nvSpPr>
        <p:spPr>
          <a:xfrm>
            <a:off x="4429658" y="4206240"/>
            <a:ext cx="314949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Product built for someone else.</a:t>
            </a:r>
          </a:p>
        </p:txBody>
      </p:sp>
      <p:sp>
        <p:nvSpPr>
          <p:cNvPr id="15" name="TextBox 14"/>
          <p:cNvSpPr txBox="1"/>
          <p:nvPr/>
        </p:nvSpPr>
        <p:spPr>
          <a:xfrm>
            <a:off x="4429658" y="4617720"/>
            <a:ext cx="3149498" cy="155448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Modules are built around idealised enterprise workflows: standardised inputs, clean master data, uniform roles. SME operations are messier — varied processes, tribal knowledge, non-standard work. The system does not bend. The SME is told to.</a:t>
            </a:r>
          </a:p>
        </p:txBody>
      </p:sp>
      <p:sp>
        <p:nvSpPr>
          <p:cNvPr id="16" name="TextBox 15"/>
          <p:cNvSpPr txBox="1"/>
          <p:nvPr/>
        </p:nvSpPr>
        <p:spPr>
          <a:xfrm>
            <a:off x="4429658" y="5897880"/>
            <a:ext cx="3149498"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ERP-IN-SME LITERATURE · MDPI 2021, 2016</a:t>
            </a:r>
          </a:p>
        </p:txBody>
      </p:sp>
      <p:sp>
        <p:nvSpPr>
          <p:cNvPr id="17" name="TextBox 16"/>
          <p:cNvSpPr txBox="1"/>
          <p:nvPr/>
        </p:nvSpPr>
        <p:spPr>
          <a:xfrm>
            <a:off x="7762036"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03</a:t>
            </a:r>
          </a:p>
        </p:txBody>
      </p:sp>
      <p:sp>
        <p:nvSpPr>
          <p:cNvPr id="18" name="TextBox 17"/>
          <p:cNvSpPr txBox="1"/>
          <p:nvPr/>
        </p:nvSpPr>
        <p:spPr>
          <a:xfrm>
            <a:off x="7762036" y="4206240"/>
            <a:ext cx="314949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Incentive misalignment.</a:t>
            </a:r>
          </a:p>
        </p:txBody>
      </p:sp>
      <p:sp>
        <p:nvSpPr>
          <p:cNvPr id="19" name="TextBox 18"/>
          <p:cNvSpPr txBox="1"/>
          <p:nvPr/>
        </p:nvSpPr>
        <p:spPr>
          <a:xfrm>
            <a:off x="7762036" y="4617720"/>
            <a:ext cx="3149498" cy="155448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Vendor revenue is licence + hosting + annual maintenance — paid whether the client sees value or not. "Finishing" is not the goal. Dependency is the business model. A client who finishes and self-manages is a customer lost.</a:t>
            </a:r>
          </a:p>
        </p:txBody>
      </p:sp>
      <p:sp>
        <p:nvSpPr>
          <p:cNvPr id="20" name="TextBox 19"/>
          <p:cNvSpPr txBox="1"/>
          <p:nvPr/>
        </p:nvSpPr>
        <p:spPr>
          <a:xfrm>
            <a:off x="7762036" y="5897880"/>
            <a:ext cx="3149498"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OBSERVED ACROSS ERP DISASTERS · CIO</a:t>
            </a:r>
          </a:p>
        </p:txBody>
      </p:sp>
      <p:sp>
        <p:nvSpPr>
          <p:cNvPr id="21" name="TextBox 20"/>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BIG REACH. WRONG STRUCTURE. WRONG PRICE. WRONG INCENTIVE.</a:t>
            </a:r>
          </a:p>
        </p:txBody>
      </p:sp>
      <p:sp>
        <p:nvSpPr>
          <p:cNvPr id="22" name="TextBox 21"/>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04 </a:t>
            </a:r>
            <a:r>
              <a:rPr sz="1000" b="1" i="0" spc="160">
                <a:solidFill>
                  <a:srgbClr val="86868B"/>
                </a:solidFill>
                <a:latin typeface="Inter"/>
              </a:rPr>
              <a:t>/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OUR STRUCTURAL FIT · 05</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WHY WE FIT — STRUCTURALLY</a:t>
            </a:r>
          </a:p>
        </p:txBody>
      </p:sp>
      <p:sp>
        <p:nvSpPr>
          <p:cNvPr id="7" name="TextBox 6"/>
          <p:cNvSpPr txBox="1"/>
          <p:nvPr/>
        </p:nvSpPr>
        <p:spPr>
          <a:xfrm>
            <a:off x="1097280" y="1371600"/>
            <a:ext cx="10515600" cy="1371600"/>
          </a:xfrm>
          <a:prstGeom prst="rect">
            <a:avLst/>
          </a:prstGeom>
          <a:noFill/>
        </p:spPr>
        <p:txBody>
          <a:bodyPr wrap="square" lIns="0" rIns="0" tIns="0" bIns="0" anchor="t">
            <a:spAutoFit/>
          </a:bodyPr>
          <a:lstStyle/>
          <a:p>
            <a:pPr algn="l">
              <a:lnSpc>
                <a:spcPct val="105000"/>
              </a:lnSpc>
            </a:pPr>
            <a:r>
              <a:rPr sz="3600" b="1" i="0">
                <a:solidFill>
                  <a:srgbClr val="1D1D1F"/>
                </a:solidFill>
                <a:latin typeface="Inter"/>
              </a:rPr>
              <a:t>Three advantages.</a:t>
            </a:r>
          </a:p>
          <a:p>
            <a:pPr algn="l">
              <a:lnSpc>
                <a:spcPct val="105000"/>
              </a:lnSpc>
            </a:pPr>
            <a:r>
              <a:rPr sz="3600" b="1" i="1">
                <a:solidFill>
                  <a:srgbClr val="0071E3"/>
                </a:solidFill>
                <a:latin typeface="Inter"/>
              </a:rPr>
              <a:t>Not strategy. Structure.</a:t>
            </a:r>
          </a:p>
        </p:txBody>
      </p:sp>
      <p:sp>
        <p:nvSpPr>
          <p:cNvPr id="8" name="TextBox 7"/>
          <p:cNvSpPr txBox="1"/>
          <p:nvPr/>
        </p:nvSpPr>
        <p:spPr>
          <a:xfrm>
            <a:off x="1097280" y="2743200"/>
            <a:ext cx="10515600" cy="731520"/>
          </a:xfrm>
          <a:prstGeom prst="rect">
            <a:avLst/>
          </a:prstGeom>
          <a:noFill/>
        </p:spPr>
        <p:txBody>
          <a:bodyPr wrap="square" lIns="0" rIns="0" tIns="0" bIns="0" anchor="t">
            <a:spAutoFit/>
          </a:bodyPr>
          <a:lstStyle/>
          <a:p>
            <a:pPr algn="l">
              <a:lnSpc>
                <a:spcPct val="145000"/>
              </a:lnSpc>
            </a:pPr>
            <a:r>
              <a:rPr sz="1300" b="0" i="0">
                <a:solidFill>
                  <a:srgbClr val="6E6E73"/>
                </a:solidFill>
                <a:latin typeface="Inter"/>
              </a:rPr>
              <a:t>We don't serve the SME market because we decided it was underserved. We serve it because our entire company is built to — and we would be unprofitable trying to do anything else.</a:t>
            </a:r>
          </a:p>
        </p:txBody>
      </p:sp>
      <p:sp>
        <p:nvSpPr>
          <p:cNvPr id="9" name="TextBox 8"/>
          <p:cNvSpPr txBox="1"/>
          <p:nvPr/>
        </p:nvSpPr>
        <p:spPr>
          <a:xfrm>
            <a:off x="1097280"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01</a:t>
            </a:r>
          </a:p>
        </p:txBody>
      </p:sp>
      <p:sp>
        <p:nvSpPr>
          <p:cNvPr id="10" name="TextBox 9"/>
          <p:cNvSpPr txBox="1"/>
          <p:nvPr/>
        </p:nvSpPr>
        <p:spPr>
          <a:xfrm>
            <a:off x="1097280" y="4206240"/>
            <a:ext cx="3149498"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Lean cost base.</a:t>
            </a:r>
          </a:p>
        </p:txBody>
      </p:sp>
      <p:sp>
        <p:nvSpPr>
          <p:cNvPr id="11" name="TextBox 10"/>
          <p:cNvSpPr txBox="1"/>
          <p:nvPr/>
        </p:nvSpPr>
        <p:spPr>
          <a:xfrm>
            <a:off x="1097280" y="4617720"/>
            <a:ext cx="3149498" cy="173736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No licence revenue to protect. No office-tower overhead to fund. Specialist engineers sourced globally, where cost-to-capability is strongest. The advantage is passed through to the client — not pocketed as margin. Our S$8,000 fixed scope is not a discount. It is our natural price.</a:t>
            </a:r>
          </a:p>
        </p:txBody>
      </p:sp>
      <p:sp>
        <p:nvSpPr>
          <p:cNvPr id="12" name="TextBox 11"/>
          <p:cNvSpPr txBox="1"/>
          <p:nvPr/>
        </p:nvSpPr>
        <p:spPr>
          <a:xfrm>
            <a:off x="4429658"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02</a:t>
            </a:r>
          </a:p>
        </p:txBody>
      </p:sp>
      <p:sp>
        <p:nvSpPr>
          <p:cNvPr id="13" name="TextBox 12"/>
          <p:cNvSpPr txBox="1"/>
          <p:nvPr/>
        </p:nvSpPr>
        <p:spPr>
          <a:xfrm>
            <a:off x="4429658" y="4206240"/>
            <a:ext cx="3149498"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Engineering fit.</a:t>
            </a:r>
          </a:p>
        </p:txBody>
      </p:sp>
      <p:sp>
        <p:nvSpPr>
          <p:cNvPr id="14" name="TextBox 13"/>
          <p:cNvSpPr txBox="1"/>
          <p:nvPr/>
        </p:nvSpPr>
        <p:spPr>
          <a:xfrm>
            <a:off x="4429658" y="4617720"/>
            <a:ext cx="3149498" cy="173736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We are engineers. Not IT consultants. Not business graduates with a factory manual. We have wired panels, debugged production lines, walked shop floors at 2am. When we configure an inventory module, we know where the physical bins sit.</a:t>
            </a:r>
          </a:p>
        </p:txBody>
      </p:sp>
      <p:sp>
        <p:nvSpPr>
          <p:cNvPr id="15" name="TextBox 14"/>
          <p:cNvSpPr txBox="1"/>
          <p:nvPr/>
        </p:nvSpPr>
        <p:spPr>
          <a:xfrm>
            <a:off x="7762036" y="3703320"/>
            <a:ext cx="3149498" cy="54864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03</a:t>
            </a:r>
          </a:p>
        </p:txBody>
      </p:sp>
      <p:sp>
        <p:nvSpPr>
          <p:cNvPr id="16" name="TextBox 15"/>
          <p:cNvSpPr txBox="1"/>
          <p:nvPr/>
        </p:nvSpPr>
        <p:spPr>
          <a:xfrm>
            <a:off x="7762036" y="4206240"/>
            <a:ext cx="3149498"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Aligned incentive.</a:t>
            </a:r>
          </a:p>
        </p:txBody>
      </p:sp>
      <p:sp>
        <p:nvSpPr>
          <p:cNvPr id="17" name="TextBox 16"/>
          <p:cNvSpPr txBox="1"/>
          <p:nvPr/>
        </p:nvSpPr>
        <p:spPr>
          <a:xfrm>
            <a:off x="7762036" y="4617720"/>
            <a:ext cx="3149498" cy="173736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We earn from work delivered. No licence markups, no platform commissions, no annual maintenance contracts. When the work is done, we leave. You own the software, the server, the data, the workflows. That alignment is why SMEs finally trust us to actually finish.</a:t>
            </a:r>
          </a:p>
        </p:txBody>
      </p:sp>
      <p:sp>
        <p:nvSpPr>
          <p:cNvPr id="18" name="TextBox 17"/>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SPECIALIST DOCTOR. NOT SALESMAN. BUILT TO SERVE — AT A PRICE THAT WORKS.</a:t>
            </a:r>
          </a:p>
        </p:txBody>
      </p:sp>
      <p:sp>
        <p:nvSpPr>
          <p:cNvPr id="19" name="TextBox 18"/>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05 </a:t>
            </a:r>
            <a:r>
              <a:rPr sz="1000" b="1" i="0" spc="160">
                <a:solidFill>
                  <a:srgbClr val="86868B"/>
                </a:solidFill>
                <a:latin typeface="Inter"/>
              </a:rPr>
              <a:t>/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PROBLEM · 06</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PROBLEM 01 OF 03</a:t>
            </a:r>
          </a:p>
        </p:txBody>
      </p:sp>
      <p:sp>
        <p:nvSpPr>
          <p:cNvPr id="7" name="TextBox 6"/>
          <p:cNvSpPr txBox="1"/>
          <p:nvPr/>
        </p:nvSpPr>
        <p:spPr>
          <a:xfrm>
            <a:off x="1097280" y="1371600"/>
            <a:ext cx="10058400" cy="1463040"/>
          </a:xfrm>
          <a:prstGeom prst="rect">
            <a:avLst/>
          </a:prstGeom>
          <a:noFill/>
        </p:spPr>
        <p:txBody>
          <a:bodyPr wrap="square" lIns="0" rIns="0" tIns="0" bIns="0" anchor="t">
            <a:spAutoFit/>
          </a:bodyPr>
          <a:lstStyle/>
          <a:p>
            <a:pPr algn="l">
              <a:lnSpc>
                <a:spcPct val="110000"/>
              </a:lnSpc>
            </a:pPr>
            <a:r>
              <a:rPr sz="3800" b="1" i="0">
                <a:solidFill>
                  <a:srgbClr val="1D1D1F"/>
                </a:solidFill>
                <a:latin typeface="Inter"/>
              </a:rPr>
              <a:t>You can't uphold</a:t>
            </a:r>
          </a:p>
          <a:p>
            <a:pPr algn="l">
              <a:lnSpc>
                <a:spcPct val="110000"/>
              </a:lnSpc>
            </a:pPr>
            <a:r>
              <a:rPr sz="3800" b="1" i="0">
                <a:solidFill>
                  <a:srgbClr val="1D1D1F"/>
                </a:solidFill>
                <a:latin typeface="Inter"/>
              </a:rPr>
              <a:t>your own </a:t>
            </a:r>
            <a:r>
              <a:rPr sz="3800" b="1" i="1">
                <a:solidFill>
                  <a:srgbClr val="0071E3"/>
                </a:solidFill>
                <a:latin typeface="Inter"/>
              </a:rPr>
              <a:t>data, knowledge, and history.</a:t>
            </a:r>
          </a:p>
        </p:txBody>
      </p:sp>
      <p:cxnSp>
        <p:nvCxnSpPr>
          <p:cNvPr id="8" name="Connector 7"/>
          <p:cNvCxnSpPr/>
          <p:nvPr/>
        </p:nvCxnSpPr>
        <p:spPr>
          <a:xfrm>
            <a:off x="1097280" y="324612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97280" y="3383280"/>
            <a:ext cx="201168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01 — CAN'T LEARN</a:t>
            </a:r>
          </a:p>
        </p:txBody>
      </p:sp>
      <p:sp>
        <p:nvSpPr>
          <p:cNvPr id="10" name="TextBox 9"/>
          <p:cNvSpPr txBox="1"/>
          <p:nvPr/>
        </p:nvSpPr>
        <p:spPr>
          <a:xfrm>
            <a:off x="3291840" y="3337560"/>
            <a:ext cx="7863840"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The same problem keeps repeating.</a:t>
            </a:r>
          </a:p>
        </p:txBody>
      </p:sp>
      <p:sp>
        <p:nvSpPr>
          <p:cNvPr id="11" name="TextBox 10"/>
          <p:cNvSpPr txBox="1"/>
          <p:nvPr/>
        </p:nvSpPr>
        <p:spPr>
          <a:xfrm>
            <a:off x="3291840" y="3703320"/>
            <a:ext cx="7863840" cy="5486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Improvement meetings run on bias and loudest voice. Supplier lead times drift for months before anyone notices. Growth stalls at the founder's bandwidth, because every lesson has to pass through the founder's memory.</a:t>
            </a:r>
          </a:p>
        </p:txBody>
      </p:sp>
      <p:cxnSp>
        <p:nvCxnSpPr>
          <p:cNvPr id="12" name="Connector 11"/>
          <p:cNvCxnSpPr/>
          <p:nvPr/>
        </p:nvCxnSpPr>
        <p:spPr>
          <a:xfrm>
            <a:off x="1097280" y="425196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97280" y="4389120"/>
            <a:ext cx="201168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02 — PEOPLE LEAVE</a:t>
            </a:r>
          </a:p>
        </p:txBody>
      </p:sp>
      <p:sp>
        <p:nvSpPr>
          <p:cNvPr id="14" name="TextBox 13"/>
          <p:cNvSpPr txBox="1"/>
          <p:nvPr/>
        </p:nvSpPr>
        <p:spPr>
          <a:xfrm>
            <a:off x="3291840" y="4343400"/>
            <a:ext cx="7863840"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Heavy penalty every time a key person resigns — or is just unavailable.</a:t>
            </a:r>
          </a:p>
        </p:txBody>
      </p:sp>
      <p:sp>
        <p:nvSpPr>
          <p:cNvPr id="15" name="TextBox 14"/>
          <p:cNvSpPr txBox="1"/>
          <p:nvPr/>
        </p:nvSpPr>
        <p:spPr>
          <a:xfrm>
            <a:off x="3291840" y="4709160"/>
            <a:ext cx="7863840" cy="5486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Retention cost spirals. You pay above market to keep the one person who knows how things work. A single resignation stalls entire workflows. Project risk is one bad Monday away.</a:t>
            </a:r>
          </a:p>
        </p:txBody>
      </p:sp>
      <p:cxnSp>
        <p:nvCxnSpPr>
          <p:cNvPr id="16" name="Connector 15"/>
          <p:cNvCxnSpPr/>
          <p:nvPr/>
        </p:nvCxnSpPr>
        <p:spPr>
          <a:xfrm>
            <a:off x="1097280" y="525780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97280" y="5394960"/>
            <a:ext cx="201168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03 — NEW HIRES CAN'T CATCH UP</a:t>
            </a:r>
          </a:p>
        </p:txBody>
      </p:sp>
      <p:sp>
        <p:nvSpPr>
          <p:cNvPr id="18" name="TextBox 17"/>
          <p:cNvSpPr txBox="1"/>
          <p:nvPr/>
        </p:nvSpPr>
        <p:spPr>
          <a:xfrm>
            <a:off x="3291840" y="5349240"/>
            <a:ext cx="7863840" cy="41148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Onboarding takes months of tribal knowledge transfer. Most leave before becoming productive.</a:t>
            </a:r>
          </a:p>
        </p:txBody>
      </p:sp>
      <p:sp>
        <p:nvSpPr>
          <p:cNvPr id="19" name="TextBox 18"/>
          <p:cNvSpPr txBox="1"/>
          <p:nvPr/>
        </p:nvSpPr>
        <p:spPr>
          <a:xfrm>
            <a:off x="3291840" y="5715000"/>
            <a:ext cx="7863840" cy="5486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You end up hiring above market rate just to attract people willing to absorb the chaos — effectively training talent that competitors will later poach.</a:t>
            </a:r>
          </a:p>
        </p:txBody>
      </p:sp>
      <p:cxnSp>
        <p:nvCxnSpPr>
          <p:cNvPr id="20" name="Connector 19"/>
          <p:cNvCxnSpPr/>
          <p:nvPr/>
        </p:nvCxnSpPr>
        <p:spPr>
          <a:xfrm>
            <a:off x="1097280" y="626364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KNOWLEDGE THAT LIVES IN ONE HEAD IS KNOWLEDGE THE COMPANY DOESN'T OWN.</a:t>
            </a:r>
          </a:p>
        </p:txBody>
      </p:sp>
      <p:sp>
        <p:nvSpPr>
          <p:cNvPr id="22" name="TextBox 21"/>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06 </a:t>
            </a:r>
            <a:r>
              <a:rPr sz="1000" b="1" i="0" spc="160">
                <a:solidFill>
                  <a:srgbClr val="86868B"/>
                </a:solidFill>
                <a:latin typeface="Inter"/>
              </a:rPr>
              <a:t>/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PROBLEM · 07</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PROBLEM 02 OF 03</a:t>
            </a:r>
          </a:p>
        </p:txBody>
      </p:sp>
      <p:sp>
        <p:nvSpPr>
          <p:cNvPr id="7" name="TextBox 6"/>
          <p:cNvSpPr txBox="1"/>
          <p:nvPr/>
        </p:nvSpPr>
        <p:spPr>
          <a:xfrm>
            <a:off x="1097280" y="1417320"/>
            <a:ext cx="5029200" cy="2377440"/>
          </a:xfrm>
          <a:prstGeom prst="rect">
            <a:avLst/>
          </a:prstGeom>
          <a:noFill/>
        </p:spPr>
        <p:txBody>
          <a:bodyPr wrap="square" lIns="0" rIns="0" tIns="0" bIns="0" anchor="t">
            <a:spAutoFit/>
          </a:bodyPr>
          <a:lstStyle/>
          <a:p>
            <a:pPr algn="l">
              <a:lnSpc>
                <a:spcPct val="110000"/>
              </a:lnSpc>
            </a:pPr>
            <a:r>
              <a:rPr sz="3400" b="1" i="0">
                <a:solidFill>
                  <a:srgbClr val="1D1D1F"/>
                </a:solidFill>
                <a:latin typeface="Inter"/>
              </a:rPr>
              <a:t>You're paying</a:t>
            </a:r>
          </a:p>
          <a:p>
            <a:pPr algn="l">
              <a:lnSpc>
                <a:spcPct val="110000"/>
              </a:lnSpc>
            </a:pPr>
            <a:r>
              <a:rPr sz="3400" b="1" i="0">
                <a:solidFill>
                  <a:srgbClr val="1D1D1F"/>
                </a:solidFill>
                <a:latin typeface="Inter"/>
              </a:rPr>
              <a:t>salary for </a:t>
            </a:r>
            <a:r>
              <a:rPr sz="3400" b="1" i="1">
                <a:solidFill>
                  <a:srgbClr val="0071E3"/>
                </a:solidFill>
                <a:latin typeface="Inter"/>
              </a:rPr>
              <a:t>duplicate work</a:t>
            </a:r>
          </a:p>
          <a:p>
            <a:pPr algn="l">
              <a:lnSpc>
                <a:spcPct val="110000"/>
              </a:lnSpc>
            </a:pPr>
            <a:r>
              <a:rPr sz="3400" b="1" i="0">
                <a:solidFill>
                  <a:srgbClr val="1D1D1F"/>
                </a:solidFill>
                <a:latin typeface="Inter"/>
              </a:rPr>
              <a:t>— and you don't track the cost.</a:t>
            </a:r>
          </a:p>
        </p:txBody>
      </p:sp>
      <p:sp>
        <p:nvSpPr>
          <p:cNvPr id="8" name="TextBox 7"/>
          <p:cNvSpPr txBox="1"/>
          <p:nvPr/>
        </p:nvSpPr>
        <p:spPr>
          <a:xfrm>
            <a:off x="1097280" y="4206240"/>
            <a:ext cx="5029200" cy="1371600"/>
          </a:xfrm>
          <a:prstGeom prst="rect">
            <a:avLst/>
          </a:prstGeom>
          <a:noFill/>
        </p:spPr>
        <p:txBody>
          <a:bodyPr wrap="square" lIns="0" rIns="0" tIns="0" bIns="0" anchor="t">
            <a:spAutoFit/>
          </a:bodyPr>
          <a:lstStyle/>
          <a:p>
            <a:pPr algn="l">
              <a:lnSpc>
                <a:spcPct val="145000"/>
              </a:lnSpc>
            </a:pPr>
            <a:r>
              <a:rPr sz="1300" b="0" i="0">
                <a:solidFill>
                  <a:srgbClr val="6E6E73"/>
                </a:solidFill>
                <a:latin typeface="Inter"/>
              </a:rPr>
              <a:t>Staff spend their days transferring information from hardcopy to softcopy, from softcopy to another softcopy, from email to spreadsheet, from spreadsheet to WhatsApp. Zero new information is created.</a:t>
            </a:r>
          </a:p>
        </p:txBody>
      </p:sp>
      <p:sp>
        <p:nvSpPr>
          <p:cNvPr id="9" name="TextBox 8"/>
          <p:cNvSpPr txBox="1"/>
          <p:nvPr/>
        </p:nvSpPr>
        <p:spPr>
          <a:xfrm>
            <a:off x="6583680" y="1417320"/>
            <a:ext cx="4572000"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THE HIDDEN SALARY BILL</a:t>
            </a:r>
          </a:p>
        </p:txBody>
      </p:sp>
      <p:cxnSp>
        <p:nvCxnSpPr>
          <p:cNvPr id="10" name="Connector 9"/>
          <p:cNvCxnSpPr/>
          <p:nvPr/>
        </p:nvCxnSpPr>
        <p:spPr>
          <a:xfrm>
            <a:off x="6583680" y="1783080"/>
            <a:ext cx="45720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1874520"/>
            <a:ext cx="1645920" cy="320040"/>
          </a:xfrm>
          <a:prstGeom prst="rect">
            <a:avLst/>
          </a:prstGeom>
          <a:noFill/>
        </p:spPr>
        <p:txBody>
          <a:bodyPr wrap="square" lIns="0" rIns="0" tIns="0" bIns="0" anchor="t">
            <a:spAutoFit/>
          </a:bodyPr>
          <a:lstStyle/>
          <a:p>
            <a:pPr algn="l">
              <a:lnSpc>
                <a:spcPct val="120000"/>
              </a:lnSpc>
            </a:pPr>
            <a:r>
              <a:rPr sz="1200" b="1" i="1">
                <a:solidFill>
                  <a:srgbClr val="1D1D1F"/>
                </a:solidFill>
                <a:latin typeface="Inter"/>
              </a:rPr>
              <a:t>Purchasing clerk</a:t>
            </a:r>
          </a:p>
        </p:txBody>
      </p:sp>
      <p:sp>
        <p:nvSpPr>
          <p:cNvPr id="12" name="TextBox 11"/>
          <p:cNvSpPr txBox="1"/>
          <p:nvPr/>
        </p:nvSpPr>
        <p:spPr>
          <a:xfrm>
            <a:off x="8275320" y="1874520"/>
            <a:ext cx="1828800" cy="594360"/>
          </a:xfrm>
          <a:prstGeom prst="rect">
            <a:avLst/>
          </a:prstGeom>
          <a:noFill/>
        </p:spPr>
        <p:txBody>
          <a:bodyPr wrap="square" lIns="0" rIns="0" tIns="0" bIns="0" anchor="t">
            <a:spAutoFit/>
          </a:bodyPr>
          <a:lstStyle/>
          <a:p>
            <a:pPr algn="l">
              <a:lnSpc>
                <a:spcPct val="140000"/>
              </a:lnSpc>
            </a:pPr>
            <a:r>
              <a:rPr sz="1000" b="0" i="0">
                <a:solidFill>
                  <a:srgbClr val="6E6E73"/>
                </a:solidFill>
                <a:latin typeface="Inter"/>
              </a:rPr>
              <a:t>Re-types supplier quotations from email PDFs into an Excel tracker.</a:t>
            </a:r>
          </a:p>
        </p:txBody>
      </p:sp>
      <p:sp>
        <p:nvSpPr>
          <p:cNvPr id="13" name="TextBox 12"/>
          <p:cNvSpPr txBox="1"/>
          <p:nvPr/>
        </p:nvSpPr>
        <p:spPr>
          <a:xfrm>
            <a:off x="10241280" y="1828800"/>
            <a:ext cx="914400" cy="640080"/>
          </a:xfrm>
          <a:prstGeom prst="rect">
            <a:avLst/>
          </a:prstGeom>
          <a:noFill/>
        </p:spPr>
        <p:txBody>
          <a:bodyPr wrap="square" lIns="0" rIns="0" tIns="0" bIns="0" anchor="t">
            <a:spAutoFit/>
          </a:bodyPr>
          <a:lstStyle/>
          <a:p>
            <a:pPr algn="r">
              <a:lnSpc>
                <a:spcPct val="110000"/>
              </a:lnSpc>
            </a:pPr>
            <a:r>
              <a:rPr sz="1400" b="1" i="0">
                <a:solidFill>
                  <a:srgbClr val="1D1D1F"/>
                </a:solidFill>
                <a:latin typeface="Inter"/>
              </a:rPr>
              <a:t>22 hrs</a:t>
            </a:r>
          </a:p>
          <a:p>
            <a:pPr algn="r">
              <a:lnSpc>
                <a:spcPct val="110000"/>
              </a:lnSpc>
            </a:pPr>
            <a:r>
              <a:rPr sz="900" b="1" i="1">
                <a:solidFill>
                  <a:srgbClr val="0071E3"/>
                </a:solidFill>
                <a:latin typeface="Inter"/>
              </a:rPr>
              <a:t>/month</a:t>
            </a:r>
          </a:p>
        </p:txBody>
      </p:sp>
      <p:cxnSp>
        <p:nvCxnSpPr>
          <p:cNvPr id="14" name="Connector 13"/>
          <p:cNvCxnSpPr/>
          <p:nvPr/>
        </p:nvCxnSpPr>
        <p:spPr>
          <a:xfrm>
            <a:off x="6583680" y="2496312"/>
            <a:ext cx="45720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83680" y="2587752"/>
            <a:ext cx="1645920" cy="320040"/>
          </a:xfrm>
          <a:prstGeom prst="rect">
            <a:avLst/>
          </a:prstGeom>
          <a:noFill/>
        </p:spPr>
        <p:txBody>
          <a:bodyPr wrap="square" lIns="0" rIns="0" tIns="0" bIns="0" anchor="t">
            <a:spAutoFit/>
          </a:bodyPr>
          <a:lstStyle/>
          <a:p>
            <a:pPr algn="l">
              <a:lnSpc>
                <a:spcPct val="120000"/>
              </a:lnSpc>
            </a:pPr>
            <a:r>
              <a:rPr sz="1200" b="1" i="1">
                <a:solidFill>
                  <a:srgbClr val="1D1D1F"/>
                </a:solidFill>
                <a:latin typeface="Inter"/>
              </a:rPr>
              <a:t>Production supervisor</a:t>
            </a:r>
          </a:p>
        </p:txBody>
      </p:sp>
      <p:sp>
        <p:nvSpPr>
          <p:cNvPr id="16" name="TextBox 15"/>
          <p:cNvSpPr txBox="1"/>
          <p:nvPr/>
        </p:nvSpPr>
        <p:spPr>
          <a:xfrm>
            <a:off x="8275320" y="2587752"/>
            <a:ext cx="1828800" cy="594360"/>
          </a:xfrm>
          <a:prstGeom prst="rect">
            <a:avLst/>
          </a:prstGeom>
          <a:noFill/>
        </p:spPr>
        <p:txBody>
          <a:bodyPr wrap="square" lIns="0" rIns="0" tIns="0" bIns="0" anchor="t">
            <a:spAutoFit/>
          </a:bodyPr>
          <a:lstStyle/>
          <a:p>
            <a:pPr algn="l">
              <a:lnSpc>
                <a:spcPct val="140000"/>
              </a:lnSpc>
            </a:pPr>
            <a:r>
              <a:rPr sz="1000" b="0" i="0">
                <a:solidFill>
                  <a:srgbClr val="6E6E73"/>
                </a:solidFill>
                <a:latin typeface="Inter"/>
              </a:rPr>
              <a:t>Copies paper traveller job numbers into a daily WhatsApp report.</a:t>
            </a:r>
          </a:p>
        </p:txBody>
      </p:sp>
      <p:sp>
        <p:nvSpPr>
          <p:cNvPr id="17" name="TextBox 16"/>
          <p:cNvSpPr txBox="1"/>
          <p:nvPr/>
        </p:nvSpPr>
        <p:spPr>
          <a:xfrm>
            <a:off x="10241280" y="2542032"/>
            <a:ext cx="914400" cy="640080"/>
          </a:xfrm>
          <a:prstGeom prst="rect">
            <a:avLst/>
          </a:prstGeom>
          <a:noFill/>
        </p:spPr>
        <p:txBody>
          <a:bodyPr wrap="square" lIns="0" rIns="0" tIns="0" bIns="0" anchor="t">
            <a:spAutoFit/>
          </a:bodyPr>
          <a:lstStyle/>
          <a:p>
            <a:pPr algn="r">
              <a:lnSpc>
                <a:spcPct val="110000"/>
              </a:lnSpc>
            </a:pPr>
            <a:r>
              <a:rPr sz="1400" b="1" i="0">
                <a:solidFill>
                  <a:srgbClr val="1D1D1F"/>
                </a:solidFill>
                <a:latin typeface="Inter"/>
              </a:rPr>
              <a:t>5.5 hrs</a:t>
            </a:r>
          </a:p>
          <a:p>
            <a:pPr algn="r">
              <a:lnSpc>
                <a:spcPct val="110000"/>
              </a:lnSpc>
            </a:pPr>
            <a:r>
              <a:rPr sz="900" b="1" i="1">
                <a:solidFill>
                  <a:srgbClr val="0071E3"/>
                </a:solidFill>
                <a:latin typeface="Inter"/>
              </a:rPr>
              <a:t>/month</a:t>
            </a:r>
          </a:p>
        </p:txBody>
      </p:sp>
      <p:cxnSp>
        <p:nvCxnSpPr>
          <p:cNvPr id="18" name="Connector 17"/>
          <p:cNvCxnSpPr/>
          <p:nvPr/>
        </p:nvCxnSpPr>
        <p:spPr>
          <a:xfrm>
            <a:off x="6583680" y="3209544"/>
            <a:ext cx="45720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0" y="3300984"/>
            <a:ext cx="1645920" cy="320040"/>
          </a:xfrm>
          <a:prstGeom prst="rect">
            <a:avLst/>
          </a:prstGeom>
          <a:noFill/>
        </p:spPr>
        <p:txBody>
          <a:bodyPr wrap="square" lIns="0" rIns="0" tIns="0" bIns="0" anchor="t">
            <a:spAutoFit/>
          </a:bodyPr>
          <a:lstStyle/>
          <a:p>
            <a:pPr algn="l">
              <a:lnSpc>
                <a:spcPct val="120000"/>
              </a:lnSpc>
            </a:pPr>
            <a:r>
              <a:rPr sz="1200" b="1" i="1">
                <a:solidFill>
                  <a:srgbClr val="1D1D1F"/>
                </a:solidFill>
                <a:latin typeface="Inter"/>
              </a:rPr>
              <a:t>Accounts admin</a:t>
            </a:r>
          </a:p>
        </p:txBody>
      </p:sp>
      <p:sp>
        <p:nvSpPr>
          <p:cNvPr id="20" name="TextBox 19"/>
          <p:cNvSpPr txBox="1"/>
          <p:nvPr/>
        </p:nvSpPr>
        <p:spPr>
          <a:xfrm>
            <a:off x="8275320" y="3300984"/>
            <a:ext cx="1828800" cy="594360"/>
          </a:xfrm>
          <a:prstGeom prst="rect">
            <a:avLst/>
          </a:prstGeom>
          <a:noFill/>
        </p:spPr>
        <p:txBody>
          <a:bodyPr wrap="square" lIns="0" rIns="0" tIns="0" bIns="0" anchor="t">
            <a:spAutoFit/>
          </a:bodyPr>
          <a:lstStyle/>
          <a:p>
            <a:pPr algn="l">
              <a:lnSpc>
                <a:spcPct val="140000"/>
              </a:lnSpc>
            </a:pPr>
            <a:r>
              <a:rPr sz="1000" b="0" i="0">
                <a:solidFill>
                  <a:srgbClr val="6E6E73"/>
                </a:solidFill>
                <a:latin typeface="Inter"/>
              </a:rPr>
              <a:t>Copies delivery order numbers from hardcopy binders into accounting software.</a:t>
            </a:r>
          </a:p>
        </p:txBody>
      </p:sp>
      <p:sp>
        <p:nvSpPr>
          <p:cNvPr id="21" name="TextBox 20"/>
          <p:cNvSpPr txBox="1"/>
          <p:nvPr/>
        </p:nvSpPr>
        <p:spPr>
          <a:xfrm>
            <a:off x="10241280" y="3255264"/>
            <a:ext cx="914400" cy="640080"/>
          </a:xfrm>
          <a:prstGeom prst="rect">
            <a:avLst/>
          </a:prstGeom>
          <a:noFill/>
        </p:spPr>
        <p:txBody>
          <a:bodyPr wrap="square" lIns="0" rIns="0" tIns="0" bIns="0" anchor="t">
            <a:spAutoFit/>
          </a:bodyPr>
          <a:lstStyle/>
          <a:p>
            <a:pPr algn="r">
              <a:lnSpc>
                <a:spcPct val="110000"/>
              </a:lnSpc>
            </a:pPr>
            <a:r>
              <a:rPr sz="1400" b="1" i="0">
                <a:solidFill>
                  <a:srgbClr val="1D1D1F"/>
                </a:solidFill>
                <a:latin typeface="Inter"/>
              </a:rPr>
              <a:t>8 hrs</a:t>
            </a:r>
          </a:p>
          <a:p>
            <a:pPr algn="r">
              <a:lnSpc>
                <a:spcPct val="110000"/>
              </a:lnSpc>
            </a:pPr>
            <a:r>
              <a:rPr sz="900" b="1" i="1">
                <a:solidFill>
                  <a:srgbClr val="0071E3"/>
                </a:solidFill>
                <a:latin typeface="Inter"/>
              </a:rPr>
              <a:t>/month</a:t>
            </a:r>
          </a:p>
        </p:txBody>
      </p:sp>
      <p:cxnSp>
        <p:nvCxnSpPr>
          <p:cNvPr id="22" name="Connector 21"/>
          <p:cNvCxnSpPr/>
          <p:nvPr/>
        </p:nvCxnSpPr>
        <p:spPr>
          <a:xfrm>
            <a:off x="6583680" y="3922776"/>
            <a:ext cx="45720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0" y="4014216"/>
            <a:ext cx="1645920" cy="320040"/>
          </a:xfrm>
          <a:prstGeom prst="rect">
            <a:avLst/>
          </a:prstGeom>
          <a:noFill/>
        </p:spPr>
        <p:txBody>
          <a:bodyPr wrap="square" lIns="0" rIns="0" tIns="0" bIns="0" anchor="t">
            <a:spAutoFit/>
          </a:bodyPr>
          <a:lstStyle/>
          <a:p>
            <a:pPr algn="l">
              <a:lnSpc>
                <a:spcPct val="120000"/>
              </a:lnSpc>
            </a:pPr>
            <a:r>
              <a:rPr sz="1200" b="1" i="1">
                <a:solidFill>
                  <a:srgbClr val="1D1D1F"/>
                </a:solidFill>
                <a:latin typeface="Inter"/>
              </a:rPr>
              <a:t>QC inspector</a:t>
            </a:r>
          </a:p>
        </p:txBody>
      </p:sp>
      <p:sp>
        <p:nvSpPr>
          <p:cNvPr id="24" name="TextBox 23"/>
          <p:cNvSpPr txBox="1"/>
          <p:nvPr/>
        </p:nvSpPr>
        <p:spPr>
          <a:xfrm>
            <a:off x="8275320" y="4014216"/>
            <a:ext cx="1828800" cy="594360"/>
          </a:xfrm>
          <a:prstGeom prst="rect">
            <a:avLst/>
          </a:prstGeom>
          <a:noFill/>
        </p:spPr>
        <p:txBody>
          <a:bodyPr wrap="square" lIns="0" rIns="0" tIns="0" bIns="0" anchor="t">
            <a:spAutoFit/>
          </a:bodyPr>
          <a:lstStyle/>
          <a:p>
            <a:pPr algn="l">
              <a:lnSpc>
                <a:spcPct val="140000"/>
              </a:lnSpc>
            </a:pPr>
            <a:r>
              <a:rPr sz="1000" b="0" i="0">
                <a:solidFill>
                  <a:srgbClr val="6E6E73"/>
                </a:solidFill>
                <a:latin typeface="Inter"/>
              </a:rPr>
              <a:t>Logs rejection data on paper, re-enters into quarterly summaries.</a:t>
            </a:r>
          </a:p>
        </p:txBody>
      </p:sp>
      <p:sp>
        <p:nvSpPr>
          <p:cNvPr id="25" name="TextBox 24"/>
          <p:cNvSpPr txBox="1"/>
          <p:nvPr/>
        </p:nvSpPr>
        <p:spPr>
          <a:xfrm>
            <a:off x="10241280" y="3968496"/>
            <a:ext cx="914400" cy="640080"/>
          </a:xfrm>
          <a:prstGeom prst="rect">
            <a:avLst/>
          </a:prstGeom>
          <a:noFill/>
        </p:spPr>
        <p:txBody>
          <a:bodyPr wrap="square" lIns="0" rIns="0" tIns="0" bIns="0" anchor="t">
            <a:spAutoFit/>
          </a:bodyPr>
          <a:lstStyle/>
          <a:p>
            <a:pPr algn="r">
              <a:lnSpc>
                <a:spcPct val="110000"/>
              </a:lnSpc>
            </a:pPr>
            <a:r>
              <a:rPr sz="1400" b="1" i="0">
                <a:solidFill>
                  <a:srgbClr val="1D1D1F"/>
                </a:solidFill>
                <a:latin typeface="Inter"/>
              </a:rPr>
              <a:t>16 hrs</a:t>
            </a:r>
          </a:p>
          <a:p>
            <a:pPr algn="r">
              <a:lnSpc>
                <a:spcPct val="110000"/>
              </a:lnSpc>
            </a:pPr>
            <a:r>
              <a:rPr sz="900" b="1" i="1">
                <a:solidFill>
                  <a:srgbClr val="0071E3"/>
                </a:solidFill>
                <a:latin typeface="Inter"/>
              </a:rPr>
              <a:t>/qtr</a:t>
            </a:r>
          </a:p>
        </p:txBody>
      </p:sp>
      <p:cxnSp>
        <p:nvCxnSpPr>
          <p:cNvPr id="26" name="Connector 25"/>
          <p:cNvCxnSpPr/>
          <p:nvPr/>
        </p:nvCxnSpPr>
        <p:spPr>
          <a:xfrm>
            <a:off x="6583680" y="4636008"/>
            <a:ext cx="45720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83680" y="5120640"/>
            <a:ext cx="4572000" cy="914400"/>
          </a:xfrm>
          <a:prstGeom prst="roundRect">
            <a:avLst>
              <a:gd name="adj" fmla="val 25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0" y="5120640"/>
            <a:ext cx="38100" cy="9144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5285232"/>
            <a:ext cx="4206240" cy="640080"/>
          </a:xfrm>
          <a:prstGeom prst="rect">
            <a:avLst/>
          </a:prstGeom>
          <a:noFill/>
        </p:spPr>
        <p:txBody>
          <a:bodyPr wrap="square" lIns="0" rIns="0" tIns="0" bIns="0" anchor="t">
            <a:spAutoFit/>
          </a:bodyPr>
          <a:lstStyle/>
          <a:p>
            <a:pPr algn="l">
              <a:lnSpc>
                <a:spcPct val="135000"/>
              </a:lnSpc>
            </a:pPr>
            <a:r>
              <a:rPr sz="1100" b="0" i="1">
                <a:solidFill>
                  <a:srgbClr val="1D1D1F"/>
                </a:solidFill>
                <a:latin typeface="Inter"/>
              </a:rPr>
              <a:t>A 30-person SME typically loses </a:t>
            </a:r>
            <a:r>
              <a:rPr sz="1100" b="1" i="1">
                <a:solidFill>
                  <a:srgbClr val="0071E3"/>
                </a:solidFill>
                <a:latin typeface="Inter"/>
              </a:rPr>
              <a:t>1–1.5 full-time headcount</a:t>
            </a:r>
            <a:r>
              <a:rPr sz="1100" b="0" i="1">
                <a:solidFill>
                  <a:srgbClr val="1D1D1F"/>
                </a:solidFill>
                <a:latin typeface="Inter"/>
              </a:rPr>
              <a:t> to this work. Every month. Paid for activity that creates no new value.</a:t>
            </a:r>
          </a:p>
        </p:txBody>
      </p:sp>
      <p:sp>
        <p:nvSpPr>
          <p:cNvPr id="30" name="TextBox 29"/>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DELAY. ERROR. REWORK. AND NOBODY TRACKS THE BILL.</a:t>
            </a:r>
          </a:p>
        </p:txBody>
      </p:sp>
      <p:sp>
        <p:nvSpPr>
          <p:cNvPr id="31" name="TextBox 30"/>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07 </a:t>
            </a:r>
            <a:r>
              <a:rPr sz="1000" b="1" i="0" spc="160">
                <a:solidFill>
                  <a:srgbClr val="86868B"/>
                </a:solidFill>
                <a:latin typeface="Inter"/>
              </a:rPr>
              <a:t>/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PROBLEM · 08</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PROBLEM 03 OF 03</a:t>
            </a:r>
          </a:p>
        </p:txBody>
      </p:sp>
      <p:sp>
        <p:nvSpPr>
          <p:cNvPr id="7" name="TextBox 6"/>
          <p:cNvSpPr txBox="1"/>
          <p:nvPr/>
        </p:nvSpPr>
        <p:spPr>
          <a:xfrm>
            <a:off x="1097280" y="1417320"/>
            <a:ext cx="5486400" cy="2377440"/>
          </a:xfrm>
          <a:prstGeom prst="rect">
            <a:avLst/>
          </a:prstGeom>
          <a:noFill/>
        </p:spPr>
        <p:txBody>
          <a:bodyPr wrap="square" lIns="0" rIns="0" tIns="0" bIns="0" anchor="t">
            <a:spAutoFit/>
          </a:bodyPr>
          <a:lstStyle/>
          <a:p>
            <a:pPr algn="l">
              <a:lnSpc>
                <a:spcPct val="110000"/>
              </a:lnSpc>
            </a:pPr>
            <a:r>
              <a:rPr sz="3400" b="1" i="0">
                <a:solidFill>
                  <a:srgbClr val="1D1D1F"/>
                </a:solidFill>
                <a:latin typeface="Inter"/>
              </a:rPr>
              <a:t>When the data</a:t>
            </a:r>
          </a:p>
          <a:p>
            <a:pPr algn="l">
              <a:lnSpc>
                <a:spcPct val="110000"/>
              </a:lnSpc>
            </a:pPr>
            <a:r>
              <a:rPr sz="3400" b="1" i="0">
                <a:solidFill>
                  <a:srgbClr val="1D1D1F"/>
                </a:solidFill>
                <a:latin typeface="Inter"/>
              </a:rPr>
              <a:t>going in is </a:t>
            </a:r>
            <a:r>
              <a:rPr sz="3400" b="1" i="1">
                <a:solidFill>
                  <a:srgbClr val="0071E3"/>
                </a:solidFill>
                <a:latin typeface="Inter"/>
              </a:rPr>
              <a:t>unreliable</a:t>
            </a:r>
            <a:r>
              <a:rPr sz="3400" b="1" i="0">
                <a:solidFill>
                  <a:srgbClr val="1D1D1F"/>
                </a:solidFill>
                <a:latin typeface="Inter"/>
              </a:rPr>
              <a:t>—</a:t>
            </a:r>
          </a:p>
          <a:p>
            <a:pPr algn="l">
              <a:lnSpc>
                <a:spcPct val="110000"/>
              </a:lnSpc>
            </a:pPr>
            <a:r>
              <a:rPr sz="3400" b="1" i="0">
                <a:solidFill>
                  <a:srgbClr val="1D1D1F"/>
                </a:solidFill>
                <a:latin typeface="Inter"/>
              </a:rPr>
              <a:t>everything built on top is unreliable.</a:t>
            </a:r>
          </a:p>
        </p:txBody>
      </p:sp>
      <p:sp>
        <p:nvSpPr>
          <p:cNvPr id="8" name="TextBox 7"/>
          <p:cNvSpPr txBox="1"/>
          <p:nvPr/>
        </p:nvSpPr>
        <p:spPr>
          <a:xfrm>
            <a:off x="1097280" y="4297680"/>
            <a:ext cx="5486400" cy="1463040"/>
          </a:xfrm>
          <a:prstGeom prst="rect">
            <a:avLst/>
          </a:prstGeom>
          <a:noFill/>
        </p:spPr>
        <p:txBody>
          <a:bodyPr wrap="square" lIns="0" rIns="0" tIns="0" bIns="0" anchor="t">
            <a:spAutoFit/>
          </a:bodyPr>
          <a:lstStyle/>
          <a:p>
            <a:pPr algn="l">
              <a:lnSpc>
                <a:spcPct val="145000"/>
              </a:lnSpc>
            </a:pPr>
            <a:r>
              <a:rPr sz="1300" b="0" i="0">
                <a:solidFill>
                  <a:srgbClr val="6E6E73"/>
                </a:solidFill>
                <a:latin typeface="Inter"/>
              </a:rPr>
              <a:t>Inconsistent inputs become inconsistent reports. Inconsistent reports become wrong decisions. Wrong decisions become losses you only discover after the damage is done.</a:t>
            </a:r>
          </a:p>
        </p:txBody>
      </p:sp>
      <p:sp>
        <p:nvSpPr>
          <p:cNvPr id="9" name="Rounded Rectangle 8"/>
          <p:cNvSpPr/>
          <p:nvPr/>
        </p:nvSpPr>
        <p:spPr>
          <a:xfrm>
            <a:off x="7040880" y="1417320"/>
            <a:ext cx="4114800" cy="1051560"/>
          </a:xfrm>
          <a:prstGeom prst="roundRect">
            <a:avLst>
              <a:gd name="adj" fmla="val 2173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0" y="1554480"/>
            <a:ext cx="3749040"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01 · WASTED MANPOWER</a:t>
            </a:r>
          </a:p>
        </p:txBody>
      </p:sp>
      <p:sp>
        <p:nvSpPr>
          <p:cNvPr id="11" name="TextBox 10"/>
          <p:cNvSpPr txBox="1"/>
          <p:nvPr/>
        </p:nvSpPr>
        <p:spPr>
          <a:xfrm>
            <a:off x="7223760" y="1874520"/>
            <a:ext cx="3749040" cy="54864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Hours per week correcting, reviewing, reconciling — effectively a full-time role cleaning what should have been right at source.</a:t>
            </a:r>
          </a:p>
        </p:txBody>
      </p:sp>
      <p:sp>
        <p:nvSpPr>
          <p:cNvPr id="12" name="Rounded Rectangle 11"/>
          <p:cNvSpPr/>
          <p:nvPr/>
        </p:nvSpPr>
        <p:spPr>
          <a:xfrm>
            <a:off x="7040880" y="2560320"/>
            <a:ext cx="4114800" cy="1051560"/>
          </a:xfrm>
          <a:prstGeom prst="roundRect">
            <a:avLst>
              <a:gd name="adj" fmla="val 2173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0" y="2697480"/>
            <a:ext cx="3749040"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02 · WRONG DECISIONS</a:t>
            </a:r>
          </a:p>
        </p:txBody>
      </p:sp>
      <p:sp>
        <p:nvSpPr>
          <p:cNvPr id="14" name="TextBox 13"/>
          <p:cNvSpPr txBox="1"/>
          <p:nvPr/>
        </p:nvSpPr>
        <p:spPr>
          <a:xfrm>
            <a:off x="7223760" y="3017520"/>
            <a:ext cx="3749040" cy="54864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Buying extra stock "just in case." Investing in the wrong equipment. Hiring headcount because workload reports are wrong.</a:t>
            </a:r>
          </a:p>
        </p:txBody>
      </p:sp>
      <p:sp>
        <p:nvSpPr>
          <p:cNvPr id="15" name="Rounded Rectangle 14"/>
          <p:cNvSpPr/>
          <p:nvPr/>
        </p:nvSpPr>
        <p:spPr>
          <a:xfrm>
            <a:off x="7040880" y="3703320"/>
            <a:ext cx="4114800" cy="1051560"/>
          </a:xfrm>
          <a:prstGeom prst="roundRect">
            <a:avLst>
              <a:gd name="adj" fmla="val 2173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3840480"/>
            <a:ext cx="3749040"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03 · NO DEEP ANALYSIS</a:t>
            </a:r>
          </a:p>
        </p:txBody>
      </p:sp>
      <p:sp>
        <p:nvSpPr>
          <p:cNvPr id="17" name="TextBox 16"/>
          <p:cNvSpPr txBox="1"/>
          <p:nvPr/>
        </p:nvSpPr>
        <p:spPr>
          <a:xfrm>
            <a:off x="7223760" y="4160520"/>
            <a:ext cx="3749040" cy="54864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Trend analysis, margin analysis, customer profitability — impossible to run on unreliable data.</a:t>
            </a:r>
          </a:p>
        </p:txBody>
      </p:sp>
      <p:sp>
        <p:nvSpPr>
          <p:cNvPr id="18" name="Rounded Rectangle 17"/>
          <p:cNvSpPr/>
          <p:nvPr/>
        </p:nvSpPr>
        <p:spPr>
          <a:xfrm>
            <a:off x="7040880" y="4846320"/>
            <a:ext cx="4114800" cy="1051560"/>
          </a:xfrm>
          <a:prstGeom prst="roundRect">
            <a:avLst>
              <a:gd name="adj" fmla="val 21739"/>
            </a:avLst>
          </a:prstGeom>
          <a:solidFill>
            <a:srgbClr val="FFFFFF"/>
          </a:solidFill>
          <a:ln w="9525">
            <a:solidFill>
              <a:srgbClr val="007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4983480"/>
            <a:ext cx="3749040"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04 · AI REMAINS OUT OF REACH</a:t>
            </a:r>
          </a:p>
        </p:txBody>
      </p:sp>
      <p:sp>
        <p:nvSpPr>
          <p:cNvPr id="20" name="TextBox 19"/>
          <p:cNvSpPr txBox="1"/>
          <p:nvPr/>
        </p:nvSpPr>
        <p:spPr>
          <a:xfrm>
            <a:off x="7223760" y="5303520"/>
            <a:ext cx="3749040" cy="548640"/>
          </a:xfrm>
          <a:prstGeom prst="rect">
            <a:avLst/>
          </a:prstGeom>
          <a:noFill/>
        </p:spPr>
        <p:txBody>
          <a:bodyPr wrap="square" lIns="0" rIns="0" tIns="0" bIns="0" anchor="t">
            <a:spAutoFit/>
          </a:bodyPr>
          <a:lstStyle/>
          <a:p>
            <a:pPr algn="l">
              <a:lnSpc>
                <a:spcPct val="140000"/>
              </a:lnSpc>
            </a:pPr>
            <a:r>
              <a:rPr sz="1100" b="0" i="0">
                <a:solidFill>
                  <a:srgbClr val="6E6E73"/>
                </a:solidFill>
                <a:latin typeface="Inter"/>
              </a:rPr>
              <a:t>AI forecasting, vision QC, predictive maintenance — all require clean structured data. Messy data = no AI = watching competitors compound every year.</a:t>
            </a:r>
          </a:p>
        </p:txBody>
      </p:sp>
      <p:sp>
        <p:nvSpPr>
          <p:cNvPr id="21" name="TextBox 20"/>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THE AI ERA IS HERE. THE QUESTION IS WHETHER YOUR DATA IS READY FOR IT.</a:t>
            </a:r>
          </a:p>
        </p:txBody>
      </p:sp>
      <p:sp>
        <p:nvSpPr>
          <p:cNvPr id="22" name="TextBox 21"/>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08 </a:t>
            </a:r>
            <a:r>
              <a:rPr sz="1000" b="1" i="0" spc="160">
                <a:solidFill>
                  <a:srgbClr val="86868B"/>
                </a:solidFill>
                <a:latin typeface="Inter"/>
              </a:rPr>
              <a:t>/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COMPOUND DAMAGE · 09</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WHAT STANDING STILL ACTUALLY COSTS</a:t>
            </a:r>
          </a:p>
        </p:txBody>
      </p:sp>
      <p:sp>
        <p:nvSpPr>
          <p:cNvPr id="7" name="TextBox 6"/>
          <p:cNvSpPr txBox="1"/>
          <p:nvPr/>
        </p:nvSpPr>
        <p:spPr>
          <a:xfrm>
            <a:off x="1097280" y="1325880"/>
            <a:ext cx="10058400" cy="1280160"/>
          </a:xfrm>
          <a:prstGeom prst="rect">
            <a:avLst/>
          </a:prstGeom>
          <a:noFill/>
        </p:spPr>
        <p:txBody>
          <a:bodyPr wrap="square" lIns="0" rIns="0" tIns="0" bIns="0" anchor="t">
            <a:spAutoFit/>
          </a:bodyPr>
          <a:lstStyle/>
          <a:p>
            <a:pPr algn="l">
              <a:lnSpc>
                <a:spcPct val="110000"/>
              </a:lnSpc>
            </a:pPr>
            <a:r>
              <a:rPr sz="3200" b="1" i="0">
                <a:solidFill>
                  <a:srgbClr val="1D1D1F"/>
                </a:solidFill>
                <a:latin typeface="Inter"/>
              </a:rPr>
              <a:t>Not four separate problems.</a:t>
            </a:r>
          </a:p>
          <a:p>
            <a:pPr algn="l">
              <a:lnSpc>
                <a:spcPct val="110000"/>
              </a:lnSpc>
            </a:pPr>
            <a:r>
              <a:rPr sz="3200" b="1" i="1">
                <a:solidFill>
                  <a:srgbClr val="0071E3"/>
                </a:solidFill>
                <a:latin typeface="Inter"/>
              </a:rPr>
              <a:t>One chain.</a:t>
            </a:r>
            <a:r>
              <a:rPr sz="3200" b="1" i="0">
                <a:solidFill>
                  <a:srgbClr val="1D1D1F"/>
                </a:solidFill>
                <a:latin typeface="Inter"/>
              </a:rPr>
              <a:t> Each link forges the next.</a:t>
            </a:r>
          </a:p>
        </p:txBody>
      </p:sp>
      <p:sp>
        <p:nvSpPr>
          <p:cNvPr id="8" name="Rounded Rectangle 7"/>
          <p:cNvSpPr/>
          <p:nvPr/>
        </p:nvSpPr>
        <p:spPr>
          <a:xfrm>
            <a:off x="1097280" y="3246120"/>
            <a:ext cx="2259253" cy="2103120"/>
          </a:xfrm>
          <a:prstGeom prst="roundRect">
            <a:avLst>
              <a:gd name="adj" fmla="val 108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3246120"/>
            <a:ext cx="2259253" cy="254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383280"/>
            <a:ext cx="1893493"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LINK 01</a:t>
            </a:r>
          </a:p>
        </p:txBody>
      </p:sp>
      <p:sp>
        <p:nvSpPr>
          <p:cNvPr id="11" name="TextBox 10"/>
          <p:cNvSpPr txBox="1"/>
          <p:nvPr/>
        </p:nvSpPr>
        <p:spPr>
          <a:xfrm>
            <a:off x="1280160" y="3657600"/>
            <a:ext cx="1893493" cy="54864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Poor operating efficiency</a:t>
            </a:r>
          </a:p>
        </p:txBody>
      </p:sp>
      <p:cxnSp>
        <p:nvCxnSpPr>
          <p:cNvPr id="12" name="Connector 11"/>
          <p:cNvCxnSpPr/>
          <p:nvPr/>
        </p:nvCxnSpPr>
        <p:spPr>
          <a:xfrm>
            <a:off x="1280160.0" y="425196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325880" y="429768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Output per employee drops</a:t>
            </a:r>
          </a:p>
        </p:txBody>
      </p:sp>
      <p:cxnSp>
        <p:nvCxnSpPr>
          <p:cNvPr id="14" name="Connector 13"/>
          <p:cNvCxnSpPr/>
          <p:nvPr/>
        </p:nvCxnSpPr>
        <p:spPr>
          <a:xfrm>
            <a:off x="1280160.0" y="461772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25880" y="466344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Work duplicated and re-done daily</a:t>
            </a:r>
          </a:p>
        </p:txBody>
      </p:sp>
      <p:cxnSp>
        <p:nvCxnSpPr>
          <p:cNvPr id="16" name="Connector 15"/>
          <p:cNvCxnSpPr/>
          <p:nvPr/>
        </p:nvCxnSpPr>
        <p:spPr>
          <a:xfrm>
            <a:off x="1280160.0" y="498348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25880" y="502920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Friction compounds in every workflow</a:t>
            </a:r>
          </a:p>
        </p:txBody>
      </p:sp>
      <p:sp>
        <p:nvSpPr>
          <p:cNvPr id="18" name="TextBox 17"/>
          <p:cNvSpPr txBox="1"/>
          <p:nvPr/>
        </p:nvSpPr>
        <p:spPr>
          <a:xfrm>
            <a:off x="3356533" y="3246120"/>
            <a:ext cx="320040" cy="2103120"/>
          </a:xfrm>
          <a:prstGeom prst="rect">
            <a:avLst/>
          </a:prstGeom>
          <a:noFill/>
        </p:spPr>
        <p:txBody>
          <a:bodyPr wrap="square" lIns="0" rIns="0" tIns="0" bIns="0" anchor="ctr">
            <a:spAutoFit/>
          </a:bodyPr>
          <a:lstStyle/>
          <a:p>
            <a:pPr algn="ctr">
              <a:lnSpc>
                <a:spcPct val="120000"/>
              </a:lnSpc>
            </a:pPr>
            <a:r>
              <a:rPr sz="2000" b="1" i="1">
                <a:solidFill>
                  <a:srgbClr val="0071E3"/>
                </a:solidFill>
                <a:latin typeface="Inter"/>
              </a:rPr>
              <a:t>→</a:t>
            </a:r>
          </a:p>
        </p:txBody>
      </p:sp>
      <p:sp>
        <p:nvSpPr>
          <p:cNvPr id="19" name="Rounded Rectangle 18"/>
          <p:cNvSpPr/>
          <p:nvPr/>
        </p:nvSpPr>
        <p:spPr>
          <a:xfrm>
            <a:off x="3676573" y="3246120"/>
            <a:ext cx="2259253" cy="2103120"/>
          </a:xfrm>
          <a:prstGeom prst="roundRect">
            <a:avLst>
              <a:gd name="adj" fmla="val 108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76573" y="3246120"/>
            <a:ext cx="2259253" cy="254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59453" y="3383280"/>
            <a:ext cx="1893493"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LINK 02</a:t>
            </a:r>
          </a:p>
        </p:txBody>
      </p:sp>
      <p:sp>
        <p:nvSpPr>
          <p:cNvPr id="22" name="TextBox 21"/>
          <p:cNvSpPr txBox="1"/>
          <p:nvPr/>
        </p:nvSpPr>
        <p:spPr>
          <a:xfrm>
            <a:off x="3859453" y="3657600"/>
            <a:ext cx="1893493" cy="54864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High burnout &amp; turnover</a:t>
            </a:r>
          </a:p>
        </p:txBody>
      </p:sp>
      <p:cxnSp>
        <p:nvCxnSpPr>
          <p:cNvPr id="23" name="Connector 22"/>
          <p:cNvCxnSpPr/>
          <p:nvPr/>
        </p:nvCxnSpPr>
        <p:spPr>
          <a:xfrm>
            <a:off x="3859453.75" y="425196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905173" y="429768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Younger staff refuse low-value rework</a:t>
            </a:r>
          </a:p>
        </p:txBody>
      </p:sp>
      <p:cxnSp>
        <p:nvCxnSpPr>
          <p:cNvPr id="25" name="Connector 24"/>
          <p:cNvCxnSpPr/>
          <p:nvPr/>
        </p:nvCxnSpPr>
        <p:spPr>
          <a:xfrm>
            <a:off x="3859453.75" y="461772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905173" y="466344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Job satisfaction collapses under chaos</a:t>
            </a:r>
          </a:p>
        </p:txBody>
      </p:sp>
      <p:cxnSp>
        <p:nvCxnSpPr>
          <p:cNvPr id="27" name="Connector 26"/>
          <p:cNvCxnSpPr/>
          <p:nvPr/>
        </p:nvCxnSpPr>
        <p:spPr>
          <a:xfrm>
            <a:off x="3859453.75" y="498348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905173" y="502920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Career anxiety drives good people out</a:t>
            </a:r>
          </a:p>
        </p:txBody>
      </p:sp>
      <p:sp>
        <p:nvSpPr>
          <p:cNvPr id="29" name="TextBox 28"/>
          <p:cNvSpPr txBox="1"/>
          <p:nvPr/>
        </p:nvSpPr>
        <p:spPr>
          <a:xfrm>
            <a:off x="5935827" y="3246120"/>
            <a:ext cx="320040" cy="2103120"/>
          </a:xfrm>
          <a:prstGeom prst="rect">
            <a:avLst/>
          </a:prstGeom>
          <a:noFill/>
        </p:spPr>
        <p:txBody>
          <a:bodyPr wrap="square" lIns="0" rIns="0" tIns="0" bIns="0" anchor="ctr">
            <a:spAutoFit/>
          </a:bodyPr>
          <a:lstStyle/>
          <a:p>
            <a:pPr algn="ctr">
              <a:lnSpc>
                <a:spcPct val="120000"/>
              </a:lnSpc>
            </a:pPr>
            <a:r>
              <a:rPr sz="2000" b="1" i="1">
                <a:solidFill>
                  <a:srgbClr val="0071E3"/>
                </a:solidFill>
                <a:latin typeface="Inter"/>
              </a:rPr>
              <a:t>→</a:t>
            </a:r>
          </a:p>
        </p:txBody>
      </p:sp>
      <p:sp>
        <p:nvSpPr>
          <p:cNvPr id="30" name="Rounded Rectangle 29"/>
          <p:cNvSpPr/>
          <p:nvPr/>
        </p:nvSpPr>
        <p:spPr>
          <a:xfrm>
            <a:off x="6255867" y="3246120"/>
            <a:ext cx="2259253" cy="2103120"/>
          </a:xfrm>
          <a:prstGeom prst="roundRect">
            <a:avLst>
              <a:gd name="adj" fmla="val 108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55867" y="3246120"/>
            <a:ext cx="2259253" cy="254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8747" y="3383280"/>
            <a:ext cx="1893493"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LINK 03</a:t>
            </a:r>
          </a:p>
        </p:txBody>
      </p:sp>
      <p:sp>
        <p:nvSpPr>
          <p:cNvPr id="33" name="TextBox 32"/>
          <p:cNvSpPr txBox="1"/>
          <p:nvPr/>
        </p:nvSpPr>
        <p:spPr>
          <a:xfrm>
            <a:off x="6438747" y="3657600"/>
            <a:ext cx="1893493" cy="54864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Poor expense efficiency</a:t>
            </a:r>
          </a:p>
        </p:txBody>
      </p:sp>
      <p:cxnSp>
        <p:nvCxnSpPr>
          <p:cNvPr id="34" name="Connector 33"/>
          <p:cNvCxnSpPr/>
          <p:nvPr/>
        </p:nvCxnSpPr>
        <p:spPr>
          <a:xfrm>
            <a:off x="6438747.5" y="425196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84467" y="429768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Inventory can't be kept lean — cash trapped</a:t>
            </a:r>
          </a:p>
        </p:txBody>
      </p:sp>
      <p:cxnSp>
        <p:nvCxnSpPr>
          <p:cNvPr id="36" name="Connector 35"/>
          <p:cNvCxnSpPr/>
          <p:nvPr/>
        </p:nvCxnSpPr>
        <p:spPr>
          <a:xfrm>
            <a:off x="6438747.5" y="461772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84467" y="466344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Purchasing reactive, no leverage</a:t>
            </a:r>
          </a:p>
        </p:txBody>
      </p:sp>
      <p:cxnSp>
        <p:nvCxnSpPr>
          <p:cNvPr id="38" name="Connector 37"/>
          <p:cNvCxnSpPr/>
          <p:nvPr/>
        </p:nvCxnSpPr>
        <p:spPr>
          <a:xfrm>
            <a:off x="6438747.5" y="498348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84467" y="502920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Forecasting breaks down both sides</a:t>
            </a:r>
          </a:p>
        </p:txBody>
      </p:sp>
      <p:sp>
        <p:nvSpPr>
          <p:cNvPr id="40" name="TextBox 39"/>
          <p:cNvSpPr txBox="1"/>
          <p:nvPr/>
        </p:nvSpPr>
        <p:spPr>
          <a:xfrm>
            <a:off x="8515121" y="3246120"/>
            <a:ext cx="320040" cy="2103120"/>
          </a:xfrm>
          <a:prstGeom prst="rect">
            <a:avLst/>
          </a:prstGeom>
          <a:noFill/>
        </p:spPr>
        <p:txBody>
          <a:bodyPr wrap="square" lIns="0" rIns="0" tIns="0" bIns="0" anchor="ctr">
            <a:spAutoFit/>
          </a:bodyPr>
          <a:lstStyle/>
          <a:p>
            <a:pPr algn="ctr">
              <a:lnSpc>
                <a:spcPct val="120000"/>
              </a:lnSpc>
            </a:pPr>
            <a:r>
              <a:rPr sz="2000" b="1" i="1">
                <a:solidFill>
                  <a:srgbClr val="0071E3"/>
                </a:solidFill>
                <a:latin typeface="Inter"/>
              </a:rPr>
              <a:t>→</a:t>
            </a:r>
          </a:p>
        </p:txBody>
      </p:sp>
      <p:sp>
        <p:nvSpPr>
          <p:cNvPr id="41" name="Rounded Rectangle 40"/>
          <p:cNvSpPr/>
          <p:nvPr/>
        </p:nvSpPr>
        <p:spPr>
          <a:xfrm>
            <a:off x="8835161" y="3246120"/>
            <a:ext cx="2259253" cy="2103120"/>
          </a:xfrm>
          <a:prstGeom prst="roundRect">
            <a:avLst>
              <a:gd name="adj" fmla="val 1086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835161" y="3246120"/>
            <a:ext cx="2259253" cy="2540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18041" y="3383280"/>
            <a:ext cx="1893493"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LINK 04</a:t>
            </a:r>
          </a:p>
        </p:txBody>
      </p:sp>
      <p:sp>
        <p:nvSpPr>
          <p:cNvPr id="44" name="TextBox 43"/>
          <p:cNvSpPr txBox="1"/>
          <p:nvPr/>
        </p:nvSpPr>
        <p:spPr>
          <a:xfrm>
            <a:off x="9018041" y="3657600"/>
            <a:ext cx="1893493" cy="54864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Losing competitiveness</a:t>
            </a:r>
          </a:p>
        </p:txBody>
      </p:sp>
      <p:cxnSp>
        <p:nvCxnSpPr>
          <p:cNvPr id="45" name="Connector 44"/>
          <p:cNvCxnSpPr/>
          <p:nvPr/>
        </p:nvCxnSpPr>
        <p:spPr>
          <a:xfrm>
            <a:off x="9018041.25" y="425196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063761" y="429768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Higher cost base loses bids on price</a:t>
            </a:r>
          </a:p>
        </p:txBody>
      </p:sp>
      <p:cxnSp>
        <p:nvCxnSpPr>
          <p:cNvPr id="47" name="Connector 46"/>
          <p:cNvCxnSpPr/>
          <p:nvPr/>
        </p:nvCxnSpPr>
        <p:spPr>
          <a:xfrm>
            <a:off x="9018041.25" y="461772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063761" y="466344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Slow responses damage customer experience</a:t>
            </a:r>
          </a:p>
        </p:txBody>
      </p:sp>
      <p:cxnSp>
        <p:nvCxnSpPr>
          <p:cNvPr id="49" name="Connector 48"/>
          <p:cNvCxnSpPr/>
          <p:nvPr/>
        </p:nvCxnSpPr>
        <p:spPr>
          <a:xfrm>
            <a:off x="9018041.25" y="4983480"/>
            <a:ext cx="1893493.75"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063761" y="5029200"/>
            <a:ext cx="1802053" cy="320040"/>
          </a:xfrm>
          <a:prstGeom prst="rect">
            <a:avLst/>
          </a:prstGeom>
          <a:noFill/>
        </p:spPr>
        <p:txBody>
          <a:bodyPr wrap="square" lIns="0" rIns="0" tIns="0" bIns="0" anchor="t">
            <a:spAutoFit/>
          </a:bodyPr>
          <a:lstStyle/>
          <a:p>
            <a:pPr algn="l">
              <a:lnSpc>
                <a:spcPct val="140000"/>
              </a:lnSpc>
            </a:pPr>
            <a:r>
              <a:rPr sz="1000" b="0" i="0">
                <a:solidFill>
                  <a:srgbClr val="0071E3"/>
                </a:solidFill>
                <a:latin typeface="Inter"/>
              </a:rPr>
              <a:t>— </a:t>
            </a:r>
            <a:r>
              <a:rPr sz="1000" b="0" i="0">
                <a:solidFill>
                  <a:srgbClr val="6E6E73"/>
                </a:solidFill>
                <a:latin typeface="Inter"/>
              </a:rPr>
              <a:t>Thin margin leaves nothing to reinvest</a:t>
            </a:r>
          </a:p>
        </p:txBody>
      </p:sp>
      <p:sp>
        <p:nvSpPr>
          <p:cNvPr id="51" name="Rounded Rectangle 50"/>
          <p:cNvSpPr/>
          <p:nvPr/>
        </p:nvSpPr>
        <p:spPr>
          <a:xfrm>
            <a:off x="1097280" y="5532120"/>
            <a:ext cx="10058400" cy="640080"/>
          </a:xfrm>
          <a:prstGeom prst="roundRect">
            <a:avLst>
              <a:gd name="adj" fmla="val 3571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97280" y="5532120"/>
            <a:ext cx="38100" cy="64008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25880" y="5641848"/>
            <a:ext cx="9601200" cy="457200"/>
          </a:xfrm>
          <a:prstGeom prst="rect">
            <a:avLst/>
          </a:prstGeom>
          <a:noFill/>
        </p:spPr>
        <p:txBody>
          <a:bodyPr wrap="square" lIns="0" rIns="0" tIns="0" bIns="0" anchor="t">
            <a:spAutoFit/>
          </a:bodyPr>
          <a:lstStyle/>
          <a:p>
            <a:pPr algn="l">
              <a:lnSpc>
                <a:spcPct val="130000"/>
              </a:lnSpc>
            </a:pPr>
            <a:r>
              <a:rPr sz="1200" b="0" i="1">
                <a:solidFill>
                  <a:srgbClr val="0071E3"/>
                </a:solidFill>
                <a:latin typeface="Inter"/>
              </a:rPr>
              <a:t>The chain runs one way. Break it at Link 01 — operating efficiency — and the rest of the chain never forms.</a:t>
            </a:r>
          </a:p>
        </p:txBody>
      </p:sp>
      <p:sp>
        <p:nvSpPr>
          <p:cNvPr id="54" name="TextBox 53"/>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FOUR CASCADING DAMAGES. ONE STARTING POINT. ONE LEVER THAT BREAKS THE WHOLE CHAIN.</a:t>
            </a:r>
          </a:p>
        </p:txBody>
      </p:sp>
      <p:sp>
        <p:nvSpPr>
          <p:cNvPr id="55" name="TextBox 54"/>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09 </a:t>
            </a:r>
            <a:r>
              <a:rPr sz="1000" b="1" i="0" spc="160">
                <a:solidFill>
                  <a:srgbClr val="86868B"/>
                </a:solidFill>
                <a:latin typeface="Inter"/>
              </a:rPr>
              <a:t>/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1 · THE MINDSET TAX · 10</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THE MOST EXPENSIVE SENTENCE IN THE LANGUAGE</a:t>
            </a:r>
          </a:p>
        </p:txBody>
      </p:sp>
      <p:sp>
        <p:nvSpPr>
          <p:cNvPr id="7" name="TextBox 6"/>
          <p:cNvSpPr txBox="1"/>
          <p:nvPr/>
        </p:nvSpPr>
        <p:spPr>
          <a:xfrm>
            <a:off x="1097280" y="1554480"/>
            <a:ext cx="5486400" cy="4572000"/>
          </a:xfrm>
          <a:prstGeom prst="rect">
            <a:avLst/>
          </a:prstGeom>
          <a:noFill/>
        </p:spPr>
        <p:txBody>
          <a:bodyPr wrap="square" lIns="0" rIns="0" tIns="0" bIns="0" anchor="t">
            <a:spAutoFit/>
          </a:bodyPr>
          <a:lstStyle/>
          <a:p>
            <a:pPr algn="l">
              <a:lnSpc>
                <a:spcPct val="98000"/>
              </a:lnSpc>
            </a:pPr>
            <a:r>
              <a:rPr sz="7800" b="1" i="1">
                <a:solidFill>
                  <a:srgbClr val="0071E3"/>
                </a:solidFill>
                <a:latin typeface="Inter"/>
              </a:rPr>
              <a:t>“We've</a:t>
            </a:r>
          </a:p>
          <a:p>
            <a:pPr algn="l">
              <a:lnSpc>
                <a:spcPct val="98000"/>
              </a:lnSpc>
            </a:pPr>
            <a:r>
              <a:rPr sz="7800" b="1" i="1">
                <a:solidFill>
                  <a:srgbClr val="0071E3"/>
                </a:solidFill>
                <a:latin typeface="Inter"/>
              </a:rPr>
              <a:t>always</a:t>
            </a:r>
          </a:p>
          <a:p>
            <a:pPr algn="l">
              <a:lnSpc>
                <a:spcPct val="98000"/>
              </a:lnSpc>
            </a:pPr>
            <a:r>
              <a:rPr sz="7800" b="1" i="1">
                <a:solidFill>
                  <a:srgbClr val="0071E3"/>
                </a:solidFill>
                <a:latin typeface="Inter"/>
              </a:rPr>
              <a:t>run it</a:t>
            </a:r>
          </a:p>
          <a:p>
            <a:pPr algn="l">
              <a:lnSpc>
                <a:spcPct val="98000"/>
              </a:lnSpc>
            </a:pPr>
            <a:r>
              <a:rPr sz="7800" b="1" i="1">
                <a:solidFill>
                  <a:srgbClr val="0071E3"/>
                </a:solidFill>
                <a:latin typeface="Inter"/>
              </a:rPr>
              <a:t>this way.”</a:t>
            </a:r>
          </a:p>
        </p:txBody>
      </p:sp>
      <p:sp>
        <p:nvSpPr>
          <p:cNvPr id="8" name="TextBox 7"/>
          <p:cNvSpPr txBox="1"/>
          <p:nvPr/>
        </p:nvSpPr>
        <p:spPr>
          <a:xfrm>
            <a:off x="7040880" y="1554480"/>
            <a:ext cx="4297680" cy="1097280"/>
          </a:xfrm>
          <a:prstGeom prst="rect">
            <a:avLst/>
          </a:prstGeom>
          <a:noFill/>
        </p:spPr>
        <p:txBody>
          <a:bodyPr wrap="square" lIns="0" rIns="0" tIns="0" bIns="0" anchor="t">
            <a:spAutoFit/>
          </a:bodyPr>
          <a:lstStyle/>
          <a:p>
            <a:pPr algn="l">
              <a:lnSpc>
                <a:spcPct val="130000"/>
              </a:lnSpc>
            </a:pPr>
            <a:r>
              <a:rPr sz="1800" b="1" i="1">
                <a:solidFill>
                  <a:srgbClr val="0071E3"/>
                </a:solidFill>
                <a:latin typeface="Inter"/>
              </a:rPr>
              <a:t>Not a warning. An invoice — already accumulating, quietly, every month.</a:t>
            </a:r>
          </a:p>
        </p:txBody>
      </p:sp>
      <p:sp>
        <p:nvSpPr>
          <p:cNvPr id="9" name="TextBox 8"/>
          <p:cNvSpPr txBox="1"/>
          <p:nvPr/>
        </p:nvSpPr>
        <p:spPr>
          <a:xfrm>
            <a:off x="7040880" y="2743200"/>
            <a:ext cx="4297680" cy="1828800"/>
          </a:xfrm>
          <a:prstGeom prst="rect">
            <a:avLst/>
          </a:prstGeom>
          <a:noFill/>
        </p:spPr>
        <p:txBody>
          <a:bodyPr wrap="square" lIns="0" rIns="0" tIns="0" bIns="0" anchor="t">
            <a:spAutoFit/>
          </a:bodyPr>
          <a:lstStyle/>
          <a:p>
            <a:pPr algn="l">
              <a:lnSpc>
                <a:spcPct val="145000"/>
              </a:lnSpc>
            </a:pPr>
            <a:r>
              <a:rPr sz="1200" b="0" i="0">
                <a:solidFill>
                  <a:srgbClr val="6E6E73"/>
                </a:solidFill>
                <a:latin typeface="Inter"/>
              </a:rPr>
              <a:t>Every SME owner says this at least once. And the longer it's said, the more the cost compounds. The bill doesn't arrive in a letter — it shows up as a lost bid, a resigned foreman, an inventory count that no longer matches reality.</a:t>
            </a:r>
          </a:p>
        </p:txBody>
      </p:sp>
      <p:sp>
        <p:nvSpPr>
          <p:cNvPr id="10" name="TextBox 9"/>
          <p:cNvSpPr txBox="1"/>
          <p:nvPr/>
        </p:nvSpPr>
        <p:spPr>
          <a:xfrm>
            <a:off x="7040880" y="4297680"/>
            <a:ext cx="4297680" cy="1280160"/>
          </a:xfrm>
          <a:prstGeom prst="rect">
            <a:avLst/>
          </a:prstGeom>
          <a:noFill/>
        </p:spPr>
        <p:txBody>
          <a:bodyPr wrap="square" lIns="0" rIns="0" tIns="0" bIns="0" anchor="t">
            <a:spAutoFit/>
          </a:bodyPr>
          <a:lstStyle/>
          <a:p>
            <a:pPr algn="l">
              <a:lnSpc>
                <a:spcPct val="145000"/>
              </a:lnSpc>
            </a:pPr>
            <a:r>
              <a:rPr sz="1200" b="0" i="0">
                <a:solidFill>
                  <a:srgbClr val="6E6E73"/>
                </a:solidFill>
                <a:latin typeface="Inter"/>
              </a:rPr>
              <a:t>This is not a question of technology. It is a question of whether the business continues to run on one person's memory — or on a system the company actually owns.</a:t>
            </a:r>
          </a:p>
        </p:txBody>
      </p:sp>
      <p:sp>
        <p:nvSpPr>
          <p:cNvPr id="11" name="Rounded Rectangle 10"/>
          <p:cNvSpPr/>
          <p:nvPr/>
        </p:nvSpPr>
        <p:spPr>
          <a:xfrm>
            <a:off x="7040880" y="5532120"/>
            <a:ext cx="4297680" cy="640080"/>
          </a:xfrm>
          <a:prstGeom prst="roundRect">
            <a:avLst>
              <a:gd name="adj" fmla="val 2812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5596128"/>
            <a:ext cx="3931920"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SOURCES REFERENCED</a:t>
            </a:r>
          </a:p>
        </p:txBody>
      </p:sp>
      <p:sp>
        <p:nvSpPr>
          <p:cNvPr id="13" name="TextBox 12"/>
          <p:cNvSpPr txBox="1"/>
          <p:nvPr/>
        </p:nvSpPr>
        <p:spPr>
          <a:xfrm>
            <a:off x="7223760" y="5852160"/>
            <a:ext cx="3931920" cy="274320"/>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SBF National Business Survey 2025 · EDB / MAS 2026 · SME Development Survey</a:t>
            </a:r>
          </a:p>
        </p:txBody>
      </p:sp>
      <p:sp>
        <p:nvSpPr>
          <p:cNvPr id="14" name="TextBox 13"/>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INERTIA HAS A MONTHLY PRICE TAG — AND YOU'RE ALREADY PAYING IT.</a:t>
            </a:r>
          </a:p>
        </p:txBody>
      </p:sp>
      <p:sp>
        <p:nvSpPr>
          <p:cNvPr id="15" name="TextBox 14"/>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10 </a:t>
            </a:r>
            <a:r>
              <a:rPr sz="1000" b="1" i="0" spc="160">
                <a:solidFill>
                  <a:srgbClr val="86868B"/>
                </a:solidFill>
                <a:latin typeface="Inter"/>
              </a:rPr>
              <a:t>/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MEETING THE MENTOR · 11</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WHO WE ARE</a:t>
            </a:r>
          </a:p>
        </p:txBody>
      </p:sp>
      <p:sp>
        <p:nvSpPr>
          <p:cNvPr id="7" name="TextBox 6"/>
          <p:cNvSpPr txBox="1"/>
          <p:nvPr/>
        </p:nvSpPr>
        <p:spPr>
          <a:xfrm>
            <a:off x="1097280" y="1417320"/>
            <a:ext cx="5486400" cy="4572000"/>
          </a:xfrm>
          <a:prstGeom prst="rect">
            <a:avLst/>
          </a:prstGeom>
          <a:noFill/>
        </p:spPr>
        <p:txBody>
          <a:bodyPr wrap="square" lIns="0" rIns="0" tIns="0" bIns="0" anchor="t">
            <a:spAutoFit/>
          </a:bodyPr>
          <a:lstStyle/>
          <a:p>
            <a:pPr algn="l">
              <a:lnSpc>
                <a:spcPct val="105000"/>
              </a:lnSpc>
            </a:pPr>
            <a:r>
              <a:rPr sz="3800" b="1" i="0">
                <a:solidFill>
                  <a:srgbClr val="1D1D1F"/>
                </a:solidFill>
                <a:latin typeface="Inter"/>
              </a:rPr>
              <a:t>We don't sell</a:t>
            </a:r>
          </a:p>
          <a:p>
            <a:pPr algn="l">
              <a:lnSpc>
                <a:spcPct val="105000"/>
              </a:lnSpc>
            </a:pPr>
            <a:r>
              <a:rPr sz="3800" b="1" i="0">
                <a:solidFill>
                  <a:srgbClr val="1D1D1F"/>
                </a:solidFill>
                <a:latin typeface="Inter"/>
              </a:rPr>
              <a:t>software.</a:t>
            </a:r>
          </a:p>
          <a:p>
            <a:pPr algn="l">
              <a:lnSpc>
                <a:spcPct val="105000"/>
              </a:lnSpc>
            </a:pPr>
            <a:r>
              <a:rPr sz="3800" b="1" i="1">
                <a:solidFill>
                  <a:srgbClr val="0071E3"/>
                </a:solidFill>
                <a:latin typeface="Inter"/>
              </a:rPr>
              <a:t>We help SMEs</a:t>
            </a:r>
          </a:p>
          <a:p>
            <a:pPr algn="l">
              <a:lnSpc>
                <a:spcPct val="105000"/>
              </a:lnSpc>
            </a:pPr>
            <a:r>
              <a:rPr sz="3800" b="1" i="1">
                <a:solidFill>
                  <a:srgbClr val="0071E3"/>
                </a:solidFill>
                <a:latin typeface="Inter"/>
              </a:rPr>
              <a:t>own the system</a:t>
            </a:r>
          </a:p>
          <a:p>
            <a:pPr algn="l">
              <a:lnSpc>
                <a:spcPct val="105000"/>
              </a:lnSpc>
            </a:pPr>
            <a:r>
              <a:rPr sz="3800" b="1" i="1">
                <a:solidFill>
                  <a:srgbClr val="0071E3"/>
                </a:solidFill>
                <a:latin typeface="Inter"/>
              </a:rPr>
              <a:t>that runs their</a:t>
            </a:r>
          </a:p>
          <a:p>
            <a:pPr algn="l">
              <a:lnSpc>
                <a:spcPct val="105000"/>
              </a:lnSpc>
            </a:pPr>
            <a:r>
              <a:rPr sz="3800" b="1" i="1">
                <a:solidFill>
                  <a:srgbClr val="0071E3"/>
                </a:solidFill>
                <a:latin typeface="Inter"/>
              </a:rPr>
              <a:t>business.</a:t>
            </a:r>
          </a:p>
        </p:txBody>
      </p:sp>
      <p:sp>
        <p:nvSpPr>
          <p:cNvPr id="8" name="Oval 7"/>
          <p:cNvSpPr/>
          <p:nvPr/>
        </p:nvSpPr>
        <p:spPr>
          <a:xfrm>
            <a:off x="7040880" y="1417320"/>
            <a:ext cx="457200" cy="457200"/>
          </a:xfrm>
          <a:prstGeom prst="ellipse">
            <a:avLst/>
          </a:prstGeom>
          <a:noFill/>
          <a:ln w="1587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071E3"/>
                </a:solidFill>
                <a:latin typeface="Inter"/>
              </a:rPr>
              <a:t>01</a:t>
            </a:r>
          </a:p>
        </p:txBody>
      </p:sp>
      <p:sp>
        <p:nvSpPr>
          <p:cNvPr id="9" name="TextBox 8"/>
          <p:cNvSpPr txBox="1"/>
          <p:nvPr/>
        </p:nvSpPr>
        <p:spPr>
          <a:xfrm>
            <a:off x="7680960" y="1417320"/>
            <a:ext cx="36576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Engineers only.</a:t>
            </a:r>
          </a:p>
        </p:txBody>
      </p:sp>
      <p:sp>
        <p:nvSpPr>
          <p:cNvPr id="10" name="TextBox 9"/>
          <p:cNvSpPr txBox="1"/>
          <p:nvPr/>
        </p:nvSpPr>
        <p:spPr>
          <a:xfrm>
            <a:off x="7680960" y="1828800"/>
            <a:ext cx="3657600" cy="10058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Not IT consultants reading a factory manual. Engineers who have wired control panels, pulled wire harnesses, walked production floors, debugged lines at 2am.</a:t>
            </a:r>
          </a:p>
        </p:txBody>
      </p:sp>
      <p:sp>
        <p:nvSpPr>
          <p:cNvPr id="11" name="Oval 10"/>
          <p:cNvSpPr/>
          <p:nvPr/>
        </p:nvSpPr>
        <p:spPr>
          <a:xfrm>
            <a:off x="7040880" y="2926080"/>
            <a:ext cx="457200" cy="457200"/>
          </a:xfrm>
          <a:prstGeom prst="ellipse">
            <a:avLst/>
          </a:prstGeom>
          <a:noFill/>
          <a:ln w="1587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071E3"/>
                </a:solidFill>
                <a:latin typeface="Inter"/>
              </a:rPr>
              <a:t>02</a:t>
            </a:r>
          </a:p>
        </p:txBody>
      </p:sp>
      <p:sp>
        <p:nvSpPr>
          <p:cNvPr id="12" name="TextBox 11"/>
          <p:cNvSpPr txBox="1"/>
          <p:nvPr/>
        </p:nvSpPr>
        <p:spPr>
          <a:xfrm>
            <a:off x="7680960" y="2926080"/>
            <a:ext cx="36576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Zero conflict of interest.</a:t>
            </a:r>
          </a:p>
        </p:txBody>
      </p:sp>
      <p:sp>
        <p:nvSpPr>
          <p:cNvPr id="13" name="TextBox 12"/>
          <p:cNvSpPr txBox="1"/>
          <p:nvPr/>
        </p:nvSpPr>
        <p:spPr>
          <a:xfrm>
            <a:off x="7680960" y="3337560"/>
            <a:ext cx="3657600" cy="10058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We don't earn from software licences. We don't mark up hosting. We don't take platform commissions. We earn from work delivered. Nothing else.</a:t>
            </a:r>
          </a:p>
        </p:txBody>
      </p:sp>
      <p:sp>
        <p:nvSpPr>
          <p:cNvPr id="14" name="Oval 13"/>
          <p:cNvSpPr/>
          <p:nvPr/>
        </p:nvSpPr>
        <p:spPr>
          <a:xfrm>
            <a:off x="7040880" y="4434840"/>
            <a:ext cx="457200" cy="457200"/>
          </a:xfrm>
          <a:prstGeom prst="ellipse">
            <a:avLst/>
          </a:prstGeom>
          <a:noFill/>
          <a:ln w="15875">
            <a:solidFill>
              <a:srgbClr val="0071E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0071E3"/>
                </a:solidFill>
                <a:latin typeface="Inter"/>
              </a:rPr>
              <a:t>03</a:t>
            </a:r>
          </a:p>
        </p:txBody>
      </p:sp>
      <p:sp>
        <p:nvSpPr>
          <p:cNvPr id="15" name="TextBox 14"/>
          <p:cNvSpPr txBox="1"/>
          <p:nvPr/>
        </p:nvSpPr>
        <p:spPr>
          <a:xfrm>
            <a:off x="7680960" y="4434840"/>
            <a:ext cx="36576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You own everything.</a:t>
            </a:r>
          </a:p>
        </p:txBody>
      </p:sp>
      <p:sp>
        <p:nvSpPr>
          <p:cNvPr id="16" name="TextBox 15"/>
          <p:cNvSpPr txBox="1"/>
          <p:nvPr/>
        </p:nvSpPr>
        <p:spPr>
          <a:xfrm>
            <a:off x="7680960" y="4846320"/>
            <a:ext cx="3657600" cy="100584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Your software. Your server. Your data. Your workflows. When our work is done, you don't need us. That is the point.</a:t>
            </a:r>
          </a:p>
        </p:txBody>
      </p:sp>
      <p:sp>
        <p:nvSpPr>
          <p:cNvPr id="17" name="TextBox 16"/>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SPECIALIST DOCTOR. NOT SALESMAN.</a:t>
            </a:r>
          </a:p>
        </p:txBody>
      </p:sp>
      <p:sp>
        <p:nvSpPr>
          <p:cNvPr id="18" name="TextBox 17"/>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11 </a:t>
            </a:r>
            <a:r>
              <a:rPr sz="1000" b="1" i="0" spc="160">
                <a:solidFill>
                  <a:srgbClr val="86868B"/>
                </a:solidFill>
                <a:latin typeface="Inter"/>
              </a:rPr>
              <a:t>/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WHAT THEY REALLY ASK · 12</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A MOMENT EVERY SME OWNER HAS WITH US</a:t>
            </a:r>
          </a:p>
        </p:txBody>
      </p:sp>
      <p:sp>
        <p:nvSpPr>
          <p:cNvPr id="7" name="TextBox 6"/>
          <p:cNvSpPr txBox="1"/>
          <p:nvPr/>
        </p:nvSpPr>
        <p:spPr>
          <a:xfrm>
            <a:off x="1097280" y="1371600"/>
            <a:ext cx="10058400" cy="1371600"/>
          </a:xfrm>
          <a:prstGeom prst="rect">
            <a:avLst/>
          </a:prstGeom>
          <a:noFill/>
        </p:spPr>
        <p:txBody>
          <a:bodyPr wrap="square" lIns="0" rIns="0" tIns="0" bIns="0" anchor="t">
            <a:spAutoFit/>
          </a:bodyPr>
          <a:lstStyle/>
          <a:p>
            <a:pPr algn="l">
              <a:lnSpc>
                <a:spcPct val="145000"/>
              </a:lnSpc>
            </a:pPr>
            <a:r>
              <a:rPr sz="1500" b="0" i="1">
                <a:solidFill>
                  <a:srgbClr val="6E6E73"/>
                </a:solidFill>
                <a:latin typeface="Inter"/>
              </a:rPr>
              <a:t>Every SME owner asks us the same question. Eventually. Usually not in the first meeting — and not on a slide. It comes later, when the deck is closed and we're being walked to the door. Voice lowered. Almost casual. Like it's a secret they've been carrying for two years.</a:t>
            </a:r>
          </a:p>
        </p:txBody>
      </p:sp>
      <p:sp>
        <p:nvSpPr>
          <p:cNvPr id="8" name="TextBox 7"/>
          <p:cNvSpPr txBox="1"/>
          <p:nvPr/>
        </p:nvSpPr>
        <p:spPr>
          <a:xfrm>
            <a:off x="1097280" y="3017520"/>
            <a:ext cx="10058400" cy="2286000"/>
          </a:xfrm>
          <a:prstGeom prst="rect">
            <a:avLst/>
          </a:prstGeom>
          <a:noFill/>
        </p:spPr>
        <p:txBody>
          <a:bodyPr wrap="square" lIns="0" rIns="0" tIns="0" bIns="0" anchor="t">
            <a:spAutoFit/>
          </a:bodyPr>
          <a:lstStyle/>
          <a:p>
            <a:pPr algn="l">
              <a:lnSpc>
                <a:spcPct val="105000"/>
              </a:lnSpc>
            </a:pPr>
            <a:r>
              <a:rPr sz="6400" b="1" i="1">
                <a:solidFill>
                  <a:srgbClr val="0071E3"/>
                </a:solidFill>
                <a:latin typeface="Inter"/>
              </a:rPr>
              <a:t>“What happens</a:t>
            </a:r>
          </a:p>
          <a:p>
            <a:pPr algn="l">
              <a:lnSpc>
                <a:spcPct val="105000"/>
              </a:lnSpc>
            </a:pPr>
            <a:r>
              <a:rPr sz="6400" b="1" i="1">
                <a:solidFill>
                  <a:srgbClr val="0071E3"/>
                </a:solidFill>
                <a:latin typeface="Inter"/>
              </a:rPr>
              <a:t>when you leave?”</a:t>
            </a:r>
          </a:p>
        </p:txBody>
      </p:sp>
      <p:cxnSp>
        <p:nvCxnSpPr>
          <p:cNvPr id="9" name="Connector 8"/>
          <p:cNvCxnSpPr/>
          <p:nvPr/>
        </p:nvCxnSpPr>
        <p:spPr>
          <a:xfrm>
            <a:off x="1097280" y="548640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97280" y="5623560"/>
            <a:ext cx="219456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WHAT THEY'RE REALLY ASKING</a:t>
            </a:r>
          </a:p>
        </p:txBody>
      </p:sp>
      <p:sp>
        <p:nvSpPr>
          <p:cNvPr id="11" name="TextBox 10"/>
          <p:cNvSpPr txBox="1"/>
          <p:nvPr/>
        </p:nvSpPr>
        <p:spPr>
          <a:xfrm>
            <a:off x="3474720" y="5532120"/>
            <a:ext cx="7680960" cy="548640"/>
          </a:xfrm>
          <a:prstGeom prst="rect">
            <a:avLst/>
          </a:prstGeom>
          <a:noFill/>
        </p:spPr>
        <p:txBody>
          <a:bodyPr wrap="square" lIns="0" rIns="0" tIns="0" bIns="0" anchor="t">
            <a:spAutoFit/>
          </a:bodyPr>
          <a:lstStyle/>
          <a:p>
            <a:pPr algn="l">
              <a:lnSpc>
                <a:spcPct val="120000"/>
              </a:lnSpc>
            </a:pPr>
            <a:r>
              <a:rPr sz="1800" b="1" i="1">
                <a:solidFill>
                  <a:srgbClr val="1D1D1F"/>
                </a:solidFill>
                <a:latin typeface="Inter"/>
              </a:rPr>
              <a:t>"Am I going to end up stuck — the way I did with the last vendor?"</a:t>
            </a:r>
          </a:p>
        </p:txBody>
      </p:sp>
      <p:sp>
        <p:nvSpPr>
          <p:cNvPr id="12" name="TextBox 11"/>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IT'S THE ONLY QUESTION THAT MATTERS. THE WHOLE OFFER LIVES OR DIES ON THE ANSWER.</a:t>
            </a:r>
          </a:p>
        </p:txBody>
      </p:sp>
      <p:sp>
        <p:nvSpPr>
          <p:cNvPr id="13" name="TextBox 12"/>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12 </a:t>
            </a:r>
            <a:r>
              <a:rPr sz="1000" b="1" i="0" spc="160">
                <a:solidFill>
                  <a:srgbClr val="86868B"/>
                </a:solidFill>
                <a:latin typeface="Inter"/>
              </a:rPr>
              <a:t>/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THE SIX ANSWERS · 13</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SIX QUESTIONS. SIX STRUCTURAL ANSWERS.</a:t>
            </a:r>
          </a:p>
        </p:txBody>
      </p:sp>
      <p:sp>
        <p:nvSpPr>
          <p:cNvPr id="7" name="TextBox 6"/>
          <p:cNvSpPr txBox="1"/>
          <p:nvPr/>
        </p:nvSpPr>
        <p:spPr>
          <a:xfrm>
            <a:off x="1097280" y="1325880"/>
            <a:ext cx="10058400" cy="822960"/>
          </a:xfrm>
          <a:prstGeom prst="rect">
            <a:avLst/>
          </a:prstGeom>
          <a:noFill/>
        </p:spPr>
        <p:txBody>
          <a:bodyPr wrap="square" lIns="0" rIns="0" tIns="0" bIns="0" anchor="t">
            <a:spAutoFit/>
          </a:bodyPr>
          <a:lstStyle/>
          <a:p>
            <a:pPr algn="l">
              <a:lnSpc>
                <a:spcPct val="120000"/>
              </a:lnSpc>
            </a:pPr>
            <a:r>
              <a:rPr sz="2200" b="1" i="0">
                <a:solidFill>
                  <a:srgbClr val="1D1D1F"/>
                </a:solidFill>
                <a:latin typeface="Inter"/>
              </a:rPr>
              <a:t>Not a piece of software. </a:t>
            </a:r>
            <a:r>
              <a:rPr sz="2200" b="1" i="1">
                <a:solidFill>
                  <a:srgbClr val="0071E3"/>
                </a:solidFill>
                <a:latin typeface="Inter"/>
              </a:rPr>
              <a:t>A way of operating</a:t>
            </a:r>
            <a:r>
              <a:rPr sz="2200" b="1" i="0">
                <a:solidFill>
                  <a:srgbClr val="1D1D1F"/>
                </a:solidFill>
                <a:latin typeface="Inter"/>
              </a:rPr>
              <a:t> — designed around the questions every SME owner actually asks.</a:t>
            </a:r>
          </a:p>
        </p:txBody>
      </p:sp>
      <p:cxnSp>
        <p:nvCxnSpPr>
          <p:cNvPr id="8" name="Connector 7"/>
          <p:cNvCxnSpPr/>
          <p:nvPr/>
        </p:nvCxnSpPr>
        <p:spPr>
          <a:xfrm>
            <a:off x="1097280" y="242316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97280" y="253288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01</a:t>
            </a:r>
          </a:p>
        </p:txBody>
      </p:sp>
      <p:sp>
        <p:nvSpPr>
          <p:cNvPr id="10" name="TextBox 9"/>
          <p:cNvSpPr txBox="1"/>
          <p:nvPr/>
        </p:nvSpPr>
        <p:spPr>
          <a:xfrm>
            <a:off x="1600200" y="251460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"What happens to my data — if we ever part ways?"</a:t>
            </a:r>
          </a:p>
        </p:txBody>
      </p:sp>
      <p:cxnSp>
        <p:nvCxnSpPr>
          <p:cNvPr id="11" name="Connector 10"/>
          <p:cNvCxnSpPr/>
          <p:nvPr/>
        </p:nvCxnSpPr>
        <p:spPr>
          <a:xfrm>
            <a:off x="6309360" y="242316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309360" y="249631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46520" y="251460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One integrated database, on your server. When we leave, you own every byte — the records, the history, the lessons.</a:t>
            </a:r>
          </a:p>
        </p:txBody>
      </p:sp>
      <p:cxnSp>
        <p:nvCxnSpPr>
          <p:cNvPr id="14" name="Connector 13"/>
          <p:cNvCxnSpPr/>
          <p:nvPr/>
        </p:nvCxnSpPr>
        <p:spPr>
          <a:xfrm>
            <a:off x="1097280" y="301752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97280" y="312724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02</a:t>
            </a:r>
          </a:p>
        </p:txBody>
      </p:sp>
      <p:sp>
        <p:nvSpPr>
          <p:cNvPr id="16" name="TextBox 15"/>
          <p:cNvSpPr txBox="1"/>
          <p:nvPr/>
        </p:nvSpPr>
        <p:spPr>
          <a:xfrm>
            <a:off x="1600200" y="310896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"What if my staff forgets how to use it?"</a:t>
            </a:r>
          </a:p>
        </p:txBody>
      </p:sp>
      <p:cxnSp>
        <p:nvCxnSpPr>
          <p:cNvPr id="17" name="Connector 16"/>
          <p:cNvCxnSpPr/>
          <p:nvPr/>
        </p:nvCxnSpPr>
        <p:spPr>
          <a:xfrm>
            <a:off x="6309360" y="301752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309360" y="309067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46520" y="310896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The workflow is the system. No training PDF to forget, no memo to lose — the right way of working becomes the default way.</a:t>
            </a:r>
          </a:p>
        </p:txBody>
      </p:sp>
      <p:cxnSp>
        <p:nvCxnSpPr>
          <p:cNvPr id="20" name="Connector 19"/>
          <p:cNvCxnSpPr/>
          <p:nvPr/>
        </p:nvCxnSpPr>
        <p:spPr>
          <a:xfrm>
            <a:off x="1097280" y="361188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97280" y="372160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03</a:t>
            </a:r>
          </a:p>
        </p:txBody>
      </p:sp>
      <p:sp>
        <p:nvSpPr>
          <p:cNvPr id="22" name="TextBox 21"/>
          <p:cNvSpPr txBox="1"/>
          <p:nvPr/>
        </p:nvSpPr>
        <p:spPr>
          <a:xfrm>
            <a:off x="1600200" y="370332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"What if I need to change something later?"</a:t>
            </a:r>
          </a:p>
        </p:txBody>
      </p:sp>
      <p:cxnSp>
        <p:nvCxnSpPr>
          <p:cNvPr id="23" name="Connector 22"/>
          <p:cNvCxnSpPr/>
          <p:nvPr/>
        </p:nvCxnSpPr>
        <p:spPr>
          <a:xfrm>
            <a:off x="6309360" y="361188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09360" y="368503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46520" y="370332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Drag-and-drop configuration. Your own staff extends and adjusts it. No support tickets. No annual contract.</a:t>
            </a:r>
          </a:p>
        </p:txBody>
      </p:sp>
      <p:cxnSp>
        <p:nvCxnSpPr>
          <p:cNvPr id="26" name="Connector 25"/>
          <p:cNvCxnSpPr/>
          <p:nvPr/>
        </p:nvCxnSpPr>
        <p:spPr>
          <a:xfrm>
            <a:off x="1097280" y="420624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97280" y="431596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04</a:t>
            </a:r>
          </a:p>
        </p:txBody>
      </p:sp>
      <p:sp>
        <p:nvSpPr>
          <p:cNvPr id="28" name="TextBox 27"/>
          <p:cNvSpPr txBox="1"/>
          <p:nvPr/>
        </p:nvSpPr>
        <p:spPr>
          <a:xfrm>
            <a:off x="1600200" y="429768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"What if cash flow gets tight for a few months?"</a:t>
            </a:r>
          </a:p>
        </p:txBody>
      </p:sp>
      <p:cxnSp>
        <p:nvCxnSpPr>
          <p:cNvPr id="29" name="Connector 28"/>
          <p:cNvCxnSpPr/>
          <p:nvPr/>
        </p:nvCxnSpPr>
        <p:spPr>
          <a:xfrm>
            <a:off x="6309360" y="420624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309360" y="427939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46520" y="429768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No licence fees. No monthly subscription trap. You pay for tasks completed — and you can pause anytime.</a:t>
            </a:r>
          </a:p>
        </p:txBody>
      </p:sp>
      <p:cxnSp>
        <p:nvCxnSpPr>
          <p:cNvPr id="32" name="Connector 31"/>
          <p:cNvCxnSpPr/>
          <p:nvPr/>
        </p:nvCxnSpPr>
        <p:spPr>
          <a:xfrm>
            <a:off x="1097280" y="480060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97280" y="491032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05</a:t>
            </a:r>
          </a:p>
        </p:txBody>
      </p:sp>
      <p:sp>
        <p:nvSpPr>
          <p:cNvPr id="34" name="TextBox 33"/>
          <p:cNvSpPr txBox="1"/>
          <p:nvPr/>
        </p:nvSpPr>
        <p:spPr>
          <a:xfrm>
            <a:off x="1600200" y="489204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"What if we outgrow it?"</a:t>
            </a:r>
          </a:p>
        </p:txBody>
      </p:sp>
      <p:cxnSp>
        <p:nvCxnSpPr>
          <p:cNvPr id="35" name="Connector 34"/>
          <p:cNvCxnSpPr/>
          <p:nvPr/>
        </p:nvCxnSpPr>
        <p:spPr>
          <a:xfrm>
            <a:off x="6309360" y="480060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309360" y="487375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46520" y="489204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Modular. Plug in one piece at a time. Keep what already works. Never rip-and-replace.</a:t>
            </a:r>
          </a:p>
        </p:txBody>
      </p:sp>
      <p:cxnSp>
        <p:nvCxnSpPr>
          <p:cNvPr id="38" name="Connector 37"/>
          <p:cNvCxnSpPr/>
          <p:nvPr/>
        </p:nvCxnSpPr>
        <p:spPr>
          <a:xfrm>
            <a:off x="1097280" y="539496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97280" y="5504688"/>
            <a:ext cx="457200" cy="36576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06</a:t>
            </a:r>
          </a:p>
        </p:txBody>
      </p:sp>
      <p:sp>
        <p:nvSpPr>
          <p:cNvPr id="40" name="TextBox 39"/>
          <p:cNvSpPr txBox="1"/>
          <p:nvPr/>
        </p:nvSpPr>
        <p:spPr>
          <a:xfrm>
            <a:off x="1600200" y="5486400"/>
            <a:ext cx="4572000" cy="502920"/>
          </a:xfrm>
          <a:prstGeom prst="rect">
            <a:avLst/>
          </a:prstGeom>
          <a:noFill/>
        </p:spPr>
        <p:txBody>
          <a:bodyPr wrap="square" lIns="0" rIns="0" tIns="0" bIns="0" anchor="t">
            <a:spAutoFit/>
          </a:bodyPr>
          <a:lstStyle/>
          <a:p>
            <a:pPr algn="l">
              <a:lnSpc>
                <a:spcPct val="130000"/>
              </a:lnSpc>
            </a:pPr>
            <a:r>
              <a:rPr sz="1200" b="0" i="1">
                <a:solidFill>
                  <a:srgbClr val="86868B"/>
                </a:solidFill>
                <a:latin typeface="Inter"/>
              </a:rPr>
              <a:t>"How does the team actually stay coordinated through all this?"</a:t>
            </a:r>
          </a:p>
        </p:txBody>
      </p:sp>
      <p:cxnSp>
        <p:nvCxnSpPr>
          <p:cNvPr id="41" name="Connector 40"/>
          <p:cNvCxnSpPr/>
          <p:nvPr/>
        </p:nvCxnSpPr>
        <p:spPr>
          <a:xfrm>
            <a:off x="6309360" y="5394960"/>
            <a:ext cx="635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309360" y="5468112"/>
            <a:ext cx="0" cy="475488"/>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46520" y="5486400"/>
            <a:ext cx="4709160" cy="502920"/>
          </a:xfrm>
          <a:prstGeom prst="rect">
            <a:avLst/>
          </a:prstGeom>
          <a:noFill/>
        </p:spPr>
        <p:txBody>
          <a:bodyPr wrap="square" lIns="0" rIns="0" tIns="0" bIns="0" anchor="t">
            <a:spAutoFit/>
          </a:bodyPr>
          <a:lstStyle/>
          <a:p>
            <a:pPr algn="l">
              <a:lnSpc>
                <a:spcPct val="130000"/>
              </a:lnSpc>
            </a:pPr>
            <a:r>
              <a:rPr sz="1200" b="0" i="0">
                <a:solidFill>
                  <a:srgbClr val="1D1D1F"/>
                </a:solidFill>
                <a:latin typeface="Inter"/>
              </a:rPr>
              <a:t>One portal. Every message, every approval, every change tied to a record. One place to look — no more searching five apps for one answer.</a:t>
            </a:r>
          </a:p>
        </p:txBody>
      </p:sp>
      <p:cxnSp>
        <p:nvCxnSpPr>
          <p:cNvPr id="44" name="Connector 43"/>
          <p:cNvCxnSpPr/>
          <p:nvPr/>
        </p:nvCxnSpPr>
        <p:spPr>
          <a:xfrm>
            <a:off x="1097280" y="598932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EVERY ANSWER IS A STRUCTURAL COMMITMENT — NOT A PROMISE.</a:t>
            </a:r>
          </a:p>
        </p:txBody>
      </p:sp>
      <p:sp>
        <p:nvSpPr>
          <p:cNvPr id="46" name="TextBox 45"/>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13 </a:t>
            </a:r>
            <a:r>
              <a:rPr sz="1000" b="1" i="0" spc="160">
                <a:solidFill>
                  <a:srgbClr val="86868B"/>
                </a:solidFill>
                <a:latin typeface="Inter"/>
              </a:rPr>
              <a:t>/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THE SERVICE · 14</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WHAT WE DELIVER</a:t>
            </a:r>
          </a:p>
        </p:txBody>
      </p:sp>
      <p:sp>
        <p:nvSpPr>
          <p:cNvPr id="7" name="TextBox 6"/>
          <p:cNvSpPr txBox="1"/>
          <p:nvPr/>
        </p:nvSpPr>
        <p:spPr>
          <a:xfrm>
            <a:off x="1097280" y="1371600"/>
            <a:ext cx="10058400" cy="1280160"/>
          </a:xfrm>
          <a:prstGeom prst="rect">
            <a:avLst/>
          </a:prstGeom>
          <a:noFill/>
        </p:spPr>
        <p:txBody>
          <a:bodyPr wrap="square" lIns="0" rIns="0" tIns="0" bIns="0" anchor="t">
            <a:spAutoFit/>
          </a:bodyPr>
          <a:lstStyle/>
          <a:p>
            <a:pPr algn="l">
              <a:lnSpc>
                <a:spcPct val="110000"/>
              </a:lnSpc>
            </a:pPr>
            <a:r>
              <a:rPr sz="3600" b="1" i="0">
                <a:solidFill>
                  <a:srgbClr val="1D1D1F"/>
                </a:solidFill>
                <a:latin typeface="Inter"/>
              </a:rPr>
              <a:t>Three layers. </a:t>
            </a:r>
            <a:r>
              <a:rPr sz="3600" b="1" i="1">
                <a:solidFill>
                  <a:srgbClr val="0071E3"/>
                </a:solidFill>
                <a:latin typeface="Inter"/>
              </a:rPr>
              <a:t>Fully defined scope.</a:t>
            </a:r>
          </a:p>
          <a:p>
            <a:pPr algn="l">
              <a:lnSpc>
                <a:spcPct val="110000"/>
              </a:lnSpc>
            </a:pPr>
            <a:r>
              <a:rPr sz="3600" b="1" i="0">
                <a:solidFill>
                  <a:srgbClr val="1D1D1F"/>
                </a:solidFill>
                <a:latin typeface="Inter"/>
              </a:rPr>
              <a:t>One accountable partner.</a:t>
            </a:r>
          </a:p>
        </p:txBody>
      </p:sp>
      <p:sp>
        <p:nvSpPr>
          <p:cNvPr id="8" name="Rounded Rectangle 7"/>
          <p:cNvSpPr/>
          <p:nvPr/>
        </p:nvSpPr>
        <p:spPr>
          <a:xfrm>
            <a:off x="1097280" y="3337560"/>
            <a:ext cx="3210458" cy="3017520"/>
          </a:xfrm>
          <a:prstGeom prst="roundRect">
            <a:avLst>
              <a:gd name="adj" fmla="val 75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56616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LAYER 01 · SOFTWARE</a:t>
            </a:r>
          </a:p>
        </p:txBody>
      </p:sp>
      <p:sp>
        <p:nvSpPr>
          <p:cNvPr id="10" name="TextBox 9"/>
          <p:cNvSpPr txBox="1"/>
          <p:nvPr/>
        </p:nvSpPr>
        <p:spPr>
          <a:xfrm>
            <a:off x="1371600" y="3886200"/>
            <a:ext cx="2661818" cy="64008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Seven core module areas.</a:t>
            </a:r>
          </a:p>
        </p:txBody>
      </p:sp>
      <p:sp>
        <p:nvSpPr>
          <p:cNvPr id="11" name="TextBox 10"/>
          <p:cNvSpPr txBox="1"/>
          <p:nvPr/>
        </p:nvSpPr>
        <p:spPr>
          <a:xfrm>
            <a:off x="1371600" y="457200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Procurement &amp; Purchasing</a:t>
            </a:r>
          </a:p>
        </p:txBody>
      </p:sp>
      <p:cxnSp>
        <p:nvCxnSpPr>
          <p:cNvPr id="12" name="Connector 11"/>
          <p:cNvCxnSpPr/>
          <p:nvPr/>
        </p:nvCxnSpPr>
        <p:spPr>
          <a:xfrm>
            <a:off x="1371600.0" y="4809744"/>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371600" y="480974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Inventory &amp; Warehouse</a:t>
            </a:r>
          </a:p>
        </p:txBody>
      </p:sp>
      <p:cxnSp>
        <p:nvCxnSpPr>
          <p:cNvPr id="14" name="Connector 13"/>
          <p:cNvCxnSpPr/>
          <p:nvPr/>
        </p:nvCxnSpPr>
        <p:spPr>
          <a:xfrm>
            <a:off x="1371600.0" y="5047488"/>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71600" y="5047488"/>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Manufacturing &amp; Production</a:t>
            </a:r>
          </a:p>
        </p:txBody>
      </p:sp>
      <p:cxnSp>
        <p:nvCxnSpPr>
          <p:cNvPr id="16" name="Connector 15"/>
          <p:cNvCxnSpPr/>
          <p:nvPr/>
        </p:nvCxnSpPr>
        <p:spPr>
          <a:xfrm>
            <a:off x="1371600.0" y="5285232"/>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71600" y="5285232"/>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Quality Management</a:t>
            </a:r>
          </a:p>
        </p:txBody>
      </p:sp>
      <p:cxnSp>
        <p:nvCxnSpPr>
          <p:cNvPr id="18" name="Connector 17"/>
          <p:cNvCxnSpPr/>
          <p:nvPr/>
        </p:nvCxnSpPr>
        <p:spPr>
          <a:xfrm>
            <a:off x="1371600.0" y="5522976"/>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371600" y="5522976"/>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Finance &amp; Accounting</a:t>
            </a:r>
          </a:p>
        </p:txBody>
      </p:sp>
      <p:cxnSp>
        <p:nvCxnSpPr>
          <p:cNvPr id="20" name="Connector 19"/>
          <p:cNvCxnSpPr/>
          <p:nvPr/>
        </p:nvCxnSpPr>
        <p:spPr>
          <a:xfrm>
            <a:off x="1371600.0" y="5760720"/>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371600" y="576072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HR &amp; Payroll</a:t>
            </a:r>
          </a:p>
        </p:txBody>
      </p:sp>
      <p:cxnSp>
        <p:nvCxnSpPr>
          <p:cNvPr id="22" name="Connector 21"/>
          <p:cNvCxnSpPr/>
          <p:nvPr/>
        </p:nvCxnSpPr>
        <p:spPr>
          <a:xfrm>
            <a:off x="1371600.0" y="5998464"/>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371600" y="599846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Sales &amp; CRM</a:t>
            </a:r>
          </a:p>
        </p:txBody>
      </p:sp>
      <p:cxnSp>
        <p:nvCxnSpPr>
          <p:cNvPr id="24" name="Connector 23"/>
          <p:cNvCxnSpPr/>
          <p:nvPr/>
        </p:nvCxnSpPr>
        <p:spPr>
          <a:xfrm>
            <a:off x="1371600.0" y="6236208"/>
            <a:ext cx="2661818.3333333335"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71600" y="5897880"/>
            <a:ext cx="2661818" cy="365760"/>
          </a:xfrm>
          <a:prstGeom prst="rect">
            <a:avLst/>
          </a:prstGeom>
          <a:noFill/>
        </p:spPr>
        <p:txBody>
          <a:bodyPr wrap="square" lIns="0" rIns="0" tIns="0" bIns="0" anchor="t">
            <a:spAutoFit/>
          </a:bodyPr>
          <a:lstStyle/>
          <a:p>
            <a:pPr algn="l">
              <a:lnSpc>
                <a:spcPct val="140000"/>
              </a:lnSpc>
            </a:pPr>
            <a:r>
              <a:rPr sz="900" b="0" i="1">
                <a:solidFill>
                  <a:srgbClr val="86868B"/>
                </a:solidFill>
                <a:latin typeface="Inter"/>
              </a:rPr>
              <a:t>Additional modules (Safety, Logistics, Projects) plugged in as needed.</a:t>
            </a:r>
          </a:p>
        </p:txBody>
      </p:sp>
      <p:sp>
        <p:nvSpPr>
          <p:cNvPr id="26" name="Rounded Rectangle 25"/>
          <p:cNvSpPr/>
          <p:nvPr/>
        </p:nvSpPr>
        <p:spPr>
          <a:xfrm>
            <a:off x="4490618" y="3337560"/>
            <a:ext cx="3210458" cy="3017520"/>
          </a:xfrm>
          <a:prstGeom prst="roundRect">
            <a:avLst>
              <a:gd name="adj" fmla="val 75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4938" y="356616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LAYER 02 · IMPLEMENTATION LABOUR</a:t>
            </a:r>
          </a:p>
        </p:txBody>
      </p:sp>
      <p:sp>
        <p:nvSpPr>
          <p:cNvPr id="28" name="TextBox 27"/>
          <p:cNvSpPr txBox="1"/>
          <p:nvPr/>
        </p:nvSpPr>
        <p:spPr>
          <a:xfrm>
            <a:off x="4764938" y="3886200"/>
            <a:ext cx="2661818" cy="64008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The human work that makes software actually work.</a:t>
            </a:r>
          </a:p>
        </p:txBody>
      </p:sp>
      <p:sp>
        <p:nvSpPr>
          <p:cNvPr id="29" name="TextBox 28"/>
          <p:cNvSpPr txBox="1"/>
          <p:nvPr/>
        </p:nvSpPr>
        <p:spPr>
          <a:xfrm>
            <a:off x="4764938" y="457200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Implementation, configuration, setup</a:t>
            </a:r>
          </a:p>
        </p:txBody>
      </p:sp>
      <p:cxnSp>
        <p:nvCxnSpPr>
          <p:cNvPr id="30" name="Connector 29"/>
          <p:cNvCxnSpPr/>
          <p:nvPr/>
        </p:nvCxnSpPr>
        <p:spPr>
          <a:xfrm>
            <a:off x="4764938.333333334" y="4809744"/>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764938" y="480974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Role-specific on-site training</a:t>
            </a:r>
          </a:p>
        </p:txBody>
      </p:sp>
      <p:cxnSp>
        <p:nvCxnSpPr>
          <p:cNvPr id="32" name="Connector 31"/>
          <p:cNvCxnSpPr/>
          <p:nvPr/>
        </p:nvCxnSpPr>
        <p:spPr>
          <a:xfrm>
            <a:off x="4764938.333333334" y="5047488"/>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764938" y="5047488"/>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Data migration (clean, map, validate)</a:t>
            </a:r>
          </a:p>
        </p:txBody>
      </p:sp>
      <p:cxnSp>
        <p:nvCxnSpPr>
          <p:cNvPr id="34" name="Connector 33"/>
          <p:cNvCxnSpPr/>
          <p:nvPr/>
        </p:nvCxnSpPr>
        <p:spPr>
          <a:xfrm>
            <a:off x="4764938.333333334" y="5285232"/>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64938" y="5285232"/>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Hardcopy-to-softcopy data entry</a:t>
            </a:r>
          </a:p>
        </p:txBody>
      </p:sp>
      <p:cxnSp>
        <p:nvCxnSpPr>
          <p:cNvPr id="36" name="Connector 35"/>
          <p:cNvCxnSpPr/>
          <p:nvPr/>
        </p:nvCxnSpPr>
        <p:spPr>
          <a:xfrm>
            <a:off x="4764938.333333334" y="5522976"/>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764938" y="5522976"/>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On-site survey and data capture</a:t>
            </a:r>
          </a:p>
        </p:txBody>
      </p:sp>
      <p:cxnSp>
        <p:nvCxnSpPr>
          <p:cNvPr id="38" name="Connector 37"/>
          <p:cNvCxnSpPr/>
          <p:nvPr/>
        </p:nvCxnSpPr>
        <p:spPr>
          <a:xfrm>
            <a:off x="4764938.333333334" y="5760720"/>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764938" y="576072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Scheduled reporting setup</a:t>
            </a:r>
          </a:p>
        </p:txBody>
      </p:sp>
      <p:cxnSp>
        <p:nvCxnSpPr>
          <p:cNvPr id="40" name="Connector 39"/>
          <p:cNvCxnSpPr/>
          <p:nvPr/>
        </p:nvCxnSpPr>
        <p:spPr>
          <a:xfrm>
            <a:off x="4764938.333333334" y="5998464"/>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764938" y="599846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Per-task ongoing fixes</a:t>
            </a:r>
          </a:p>
        </p:txBody>
      </p:sp>
      <p:cxnSp>
        <p:nvCxnSpPr>
          <p:cNvPr id="42" name="Connector 41"/>
          <p:cNvCxnSpPr/>
          <p:nvPr/>
        </p:nvCxnSpPr>
        <p:spPr>
          <a:xfrm>
            <a:off x="4764938.333333334" y="6236208"/>
            <a:ext cx="2661818.333333334"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764938" y="5897880"/>
            <a:ext cx="2661818" cy="365760"/>
          </a:xfrm>
          <a:prstGeom prst="rect">
            <a:avLst/>
          </a:prstGeom>
          <a:noFill/>
        </p:spPr>
        <p:txBody>
          <a:bodyPr wrap="square" lIns="0" rIns="0" tIns="0" bIns="0" anchor="t">
            <a:spAutoFit/>
          </a:bodyPr>
          <a:lstStyle/>
          <a:p>
            <a:pPr algn="l">
              <a:lnSpc>
                <a:spcPct val="140000"/>
              </a:lnSpc>
            </a:pPr>
            <a:r>
              <a:rPr sz="900" b="0" i="1">
                <a:solidFill>
                  <a:srgbClr val="86868B"/>
                </a:solidFill>
                <a:latin typeface="Inter"/>
              </a:rPr>
              <a:t>On-demand human work — scoped task by task.</a:t>
            </a:r>
          </a:p>
        </p:txBody>
      </p:sp>
      <p:sp>
        <p:nvSpPr>
          <p:cNvPr id="44" name="Rounded Rectangle 43"/>
          <p:cNvSpPr/>
          <p:nvPr/>
        </p:nvSpPr>
        <p:spPr>
          <a:xfrm>
            <a:off x="7883956" y="3337560"/>
            <a:ext cx="3210458" cy="3017520"/>
          </a:xfrm>
          <a:prstGeom prst="roundRect">
            <a:avLst>
              <a:gd name="adj" fmla="val 757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58276" y="356616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LAYER 03 · CUSTOMISATION</a:t>
            </a:r>
          </a:p>
        </p:txBody>
      </p:sp>
      <p:sp>
        <p:nvSpPr>
          <p:cNvPr id="46" name="TextBox 45"/>
          <p:cNvSpPr txBox="1"/>
          <p:nvPr/>
        </p:nvSpPr>
        <p:spPr>
          <a:xfrm>
            <a:off x="8158276" y="3886200"/>
            <a:ext cx="2661818" cy="640080"/>
          </a:xfrm>
          <a:prstGeom prst="rect">
            <a:avLst/>
          </a:prstGeom>
          <a:noFill/>
        </p:spPr>
        <p:txBody>
          <a:bodyPr wrap="square" lIns="0" rIns="0" tIns="0" bIns="0" anchor="t">
            <a:spAutoFit/>
          </a:bodyPr>
          <a:lstStyle/>
          <a:p>
            <a:pPr algn="l">
              <a:lnSpc>
                <a:spcPct val="115000"/>
              </a:lnSpc>
            </a:pPr>
            <a:r>
              <a:rPr sz="1400" b="1" i="0">
                <a:solidFill>
                  <a:srgbClr val="1D1D1F"/>
                </a:solidFill>
                <a:latin typeface="Inter"/>
              </a:rPr>
              <a:t>For clients whose needs exceed standard modules.</a:t>
            </a:r>
          </a:p>
        </p:txBody>
      </p:sp>
      <p:sp>
        <p:nvSpPr>
          <p:cNvPr id="47" name="TextBox 46"/>
          <p:cNvSpPr txBox="1"/>
          <p:nvPr/>
        </p:nvSpPr>
        <p:spPr>
          <a:xfrm>
            <a:off x="8158276" y="457200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Integration with existing software</a:t>
            </a:r>
          </a:p>
        </p:txBody>
      </p:sp>
      <p:cxnSp>
        <p:nvCxnSpPr>
          <p:cNvPr id="48" name="Connector 47"/>
          <p:cNvCxnSpPr/>
          <p:nvPr/>
        </p:nvCxnSpPr>
        <p:spPr>
          <a:xfrm>
            <a:off x="8158276.666666667" y="4809744"/>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158276" y="480974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R&amp;D of new software modules</a:t>
            </a:r>
          </a:p>
        </p:txBody>
      </p:sp>
      <p:cxnSp>
        <p:nvCxnSpPr>
          <p:cNvPr id="50" name="Connector 49"/>
          <p:cNvCxnSpPr/>
          <p:nvPr/>
        </p:nvCxnSpPr>
        <p:spPr>
          <a:xfrm>
            <a:off x="8158276.666666667" y="5047488"/>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158276" y="5047488"/>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Hardware sourcing</a:t>
            </a:r>
          </a:p>
        </p:txBody>
      </p:sp>
      <p:cxnSp>
        <p:nvCxnSpPr>
          <p:cNvPr id="52" name="Connector 51"/>
          <p:cNvCxnSpPr/>
          <p:nvPr/>
        </p:nvCxnSpPr>
        <p:spPr>
          <a:xfrm>
            <a:off x="8158276.666666667" y="5285232"/>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158276" y="5285232"/>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Control panel design &amp; build</a:t>
            </a:r>
          </a:p>
        </p:txBody>
      </p:sp>
      <p:cxnSp>
        <p:nvCxnSpPr>
          <p:cNvPr id="54" name="Connector 53"/>
          <p:cNvCxnSpPr/>
          <p:nvPr/>
        </p:nvCxnSpPr>
        <p:spPr>
          <a:xfrm>
            <a:off x="8158276.666666667" y="5522976"/>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158276" y="5522976"/>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Wire harness &amp; PCBA assembly</a:t>
            </a:r>
          </a:p>
        </p:txBody>
      </p:sp>
      <p:cxnSp>
        <p:nvCxnSpPr>
          <p:cNvPr id="56" name="Connector 55"/>
          <p:cNvCxnSpPr/>
          <p:nvPr/>
        </p:nvCxnSpPr>
        <p:spPr>
          <a:xfrm>
            <a:off x="8158276.666666667" y="5760720"/>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158276" y="5760720"/>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IoT sensor deployment</a:t>
            </a:r>
          </a:p>
        </p:txBody>
      </p:sp>
      <p:cxnSp>
        <p:nvCxnSpPr>
          <p:cNvPr id="58" name="Connector 57"/>
          <p:cNvCxnSpPr/>
          <p:nvPr/>
        </p:nvCxnSpPr>
        <p:spPr>
          <a:xfrm>
            <a:off x="8158276.666666667" y="5998464"/>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158276" y="5998464"/>
            <a:ext cx="2661818" cy="256032"/>
          </a:xfrm>
          <a:prstGeom prst="rect">
            <a:avLst/>
          </a:prstGeom>
          <a:noFill/>
        </p:spPr>
        <p:txBody>
          <a:bodyPr wrap="square" lIns="0" rIns="0" tIns="0" bIns="0" anchor="t">
            <a:spAutoFit/>
          </a:bodyPr>
          <a:lstStyle/>
          <a:p>
            <a:pPr algn="l">
              <a:lnSpc>
                <a:spcPct val="120000"/>
              </a:lnSpc>
            </a:pPr>
            <a:r>
              <a:rPr sz="1000" b="0" i="0">
                <a:solidFill>
                  <a:srgbClr val="6E6E73"/>
                </a:solidFill>
                <a:latin typeface="Inter"/>
              </a:rPr>
              <a:t>Custom fixtures</a:t>
            </a:r>
          </a:p>
        </p:txBody>
      </p:sp>
      <p:cxnSp>
        <p:nvCxnSpPr>
          <p:cNvPr id="60" name="Connector 59"/>
          <p:cNvCxnSpPr/>
          <p:nvPr/>
        </p:nvCxnSpPr>
        <p:spPr>
          <a:xfrm>
            <a:off x="8158276.666666667" y="6236208"/>
            <a:ext cx="2661818.333333333" cy="0"/>
          </a:xfrm>
          <a:prstGeom prst="line">
            <a:avLst/>
          </a:prstGeom>
          <a:ln w="6350">
            <a:solidFill>
              <a:srgbClr val="D2D2D7"/>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8158276" y="5897880"/>
            <a:ext cx="2661818" cy="365760"/>
          </a:xfrm>
          <a:prstGeom prst="rect">
            <a:avLst/>
          </a:prstGeom>
          <a:noFill/>
        </p:spPr>
        <p:txBody>
          <a:bodyPr wrap="square" lIns="0" rIns="0" tIns="0" bIns="0" anchor="t">
            <a:spAutoFit/>
          </a:bodyPr>
          <a:lstStyle/>
          <a:p>
            <a:pPr algn="l">
              <a:lnSpc>
                <a:spcPct val="140000"/>
              </a:lnSpc>
            </a:pPr>
            <a:r>
              <a:rPr sz="900" b="0" i="1">
                <a:solidFill>
                  <a:srgbClr val="86868B"/>
                </a:solidFill>
                <a:latin typeface="Inter"/>
              </a:rPr>
              <a:t>Engineering DNA — not outsourced, not guessed.</a:t>
            </a:r>
          </a:p>
        </p:txBody>
      </p:sp>
      <p:sp>
        <p:nvSpPr>
          <p:cNvPr id="62" name="TextBox 61"/>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SOFTWARE. LABOUR. CUSTOMISATION. THREE LAYERS. ONE ACCOUNTABLE PARTNER.</a:t>
            </a:r>
          </a:p>
        </p:txBody>
      </p:sp>
      <p:sp>
        <p:nvSpPr>
          <p:cNvPr id="63" name="TextBox 62"/>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14 </a:t>
            </a:r>
            <a:r>
              <a:rPr sz="1000" b="1" i="0" spc="160">
                <a:solidFill>
                  <a:srgbClr val="86868B"/>
                </a:solidFill>
                <a:latin typeface="Inter"/>
              </a:rPr>
              <a:t>/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FABRICATION &amp; PRODUCTION · 15</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WHEN THE SYSTEM NEEDS HARDWARE, NOT JUST SOFTWARE</a:t>
            </a:r>
          </a:p>
        </p:txBody>
      </p:sp>
      <p:sp>
        <p:nvSpPr>
          <p:cNvPr id="7" name="TextBox 6"/>
          <p:cNvSpPr txBox="1"/>
          <p:nvPr/>
        </p:nvSpPr>
        <p:spPr>
          <a:xfrm>
            <a:off x="1097280" y="1371600"/>
            <a:ext cx="10058400" cy="1280160"/>
          </a:xfrm>
          <a:prstGeom prst="rect">
            <a:avLst/>
          </a:prstGeom>
          <a:noFill/>
        </p:spPr>
        <p:txBody>
          <a:bodyPr wrap="square" lIns="0" rIns="0" tIns="0" bIns="0" anchor="t">
            <a:spAutoFit/>
          </a:bodyPr>
          <a:lstStyle/>
          <a:p>
            <a:pPr algn="l">
              <a:lnSpc>
                <a:spcPct val="110000"/>
              </a:lnSpc>
            </a:pPr>
            <a:r>
              <a:rPr sz="3200" b="1" i="0">
                <a:solidFill>
                  <a:srgbClr val="1D1D1F"/>
                </a:solidFill>
                <a:latin typeface="Inter"/>
              </a:rPr>
              <a:t>Production hardware.</a:t>
            </a:r>
          </a:p>
          <a:p>
            <a:pPr algn="l">
              <a:lnSpc>
                <a:spcPct val="110000"/>
              </a:lnSpc>
            </a:pPr>
            <a:r>
              <a:rPr sz="3200" b="1" i="1">
                <a:solidFill>
                  <a:srgbClr val="0071E3"/>
                </a:solidFill>
                <a:latin typeface="Inter"/>
              </a:rPr>
              <a:t>Sourced, managed, delivered.</a:t>
            </a:r>
          </a:p>
        </p:txBody>
      </p:sp>
      <p:sp>
        <p:nvSpPr>
          <p:cNvPr id="8" name="TextBox 7"/>
          <p:cNvSpPr txBox="1"/>
          <p:nvPr/>
        </p:nvSpPr>
        <p:spPr>
          <a:xfrm>
            <a:off x="1097280" y="2697480"/>
            <a:ext cx="10058400" cy="731520"/>
          </a:xfrm>
          <a:prstGeom prst="rect">
            <a:avLst/>
          </a:prstGeom>
          <a:noFill/>
        </p:spPr>
        <p:txBody>
          <a:bodyPr wrap="square" lIns="0" rIns="0" tIns="0" bIns="0" anchor="t">
            <a:spAutoFit/>
          </a:bodyPr>
          <a:lstStyle/>
          <a:p>
            <a:pPr algn="l">
              <a:lnSpc>
                <a:spcPct val="145000"/>
              </a:lnSpc>
            </a:pPr>
            <a:r>
              <a:rPr sz="1200" b="0" i="0">
                <a:solidFill>
                  <a:srgbClr val="6E6E73"/>
                </a:solidFill>
                <a:latin typeface="Inter"/>
              </a:rPr>
              <a:t>One partner. A curated vendor network across Singapore, China, and India. We scope the requirement, select the right vendor, manage the schedule, run quality assurance, and arrange delivery — so you deal with us, not three factories.</a:t>
            </a:r>
          </a:p>
        </p:txBody>
      </p:sp>
      <p:sp>
        <p:nvSpPr>
          <p:cNvPr id="9" name="Rounded Rectangle 8"/>
          <p:cNvSpPr/>
          <p:nvPr/>
        </p:nvSpPr>
        <p:spPr>
          <a:xfrm>
            <a:off x="1097280" y="3657600"/>
            <a:ext cx="1926275" cy="2194560"/>
          </a:xfrm>
          <a:prstGeom prst="roundRect">
            <a:avLst>
              <a:gd name="adj" fmla="val 93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3794760"/>
            <a:ext cx="1651955" cy="274320"/>
          </a:xfrm>
          <a:prstGeom prst="rect">
            <a:avLst/>
          </a:prstGeom>
          <a:noFill/>
        </p:spPr>
        <p:txBody>
          <a:bodyPr wrap="square" lIns="0" rIns="0" tIns="0" bIns="0" anchor="t">
            <a:spAutoFit/>
          </a:bodyPr>
          <a:lstStyle/>
          <a:p>
            <a:pPr algn="l">
              <a:lnSpc>
                <a:spcPct val="120000"/>
              </a:lnSpc>
            </a:pPr>
            <a:r>
              <a:rPr sz="800" b="1" i="0" spc="160">
                <a:solidFill>
                  <a:srgbClr val="0071E3"/>
                </a:solidFill>
                <a:latin typeface="Inter"/>
              </a:rPr>
              <a:t>A · METAL FABRICATION</a:t>
            </a:r>
          </a:p>
        </p:txBody>
      </p:sp>
      <p:sp>
        <p:nvSpPr>
          <p:cNvPr id="11" name="TextBox 10"/>
          <p:cNvSpPr txBox="1"/>
          <p:nvPr/>
        </p:nvSpPr>
        <p:spPr>
          <a:xfrm>
            <a:off x="1234440" y="4069080"/>
            <a:ext cx="1651955" cy="640080"/>
          </a:xfrm>
          <a:prstGeom prst="rect">
            <a:avLst/>
          </a:prstGeom>
          <a:noFill/>
        </p:spPr>
        <p:txBody>
          <a:bodyPr wrap="square" lIns="0" rIns="0" tIns="0" bIns="0" anchor="t">
            <a:spAutoFit/>
          </a:bodyPr>
          <a:lstStyle/>
          <a:p>
            <a:pPr algn="l">
              <a:lnSpc>
                <a:spcPct val="115000"/>
              </a:lnSpc>
            </a:pPr>
            <a:r>
              <a:rPr sz="1100" b="1" i="0">
                <a:solidFill>
                  <a:srgbClr val="1D1D1F"/>
                </a:solidFill>
                <a:latin typeface="Inter"/>
              </a:rPr>
              <a:t>Custom structures, enclosures, assemblies.</a:t>
            </a:r>
          </a:p>
        </p:txBody>
      </p:sp>
      <p:sp>
        <p:nvSpPr>
          <p:cNvPr id="12" name="TextBox 11"/>
          <p:cNvSpPr txBox="1"/>
          <p:nvPr/>
        </p:nvSpPr>
        <p:spPr>
          <a:xfrm>
            <a:off x="1234440" y="4709160"/>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Steel structures &amp; assemblies</a:t>
            </a:r>
          </a:p>
        </p:txBody>
      </p:sp>
      <p:sp>
        <p:nvSpPr>
          <p:cNvPr id="13" name="TextBox 12"/>
          <p:cNvSpPr txBox="1"/>
          <p:nvPr/>
        </p:nvSpPr>
        <p:spPr>
          <a:xfrm>
            <a:off x="1234440" y="4910328"/>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Electrical enclosures</a:t>
            </a:r>
          </a:p>
        </p:txBody>
      </p:sp>
      <p:sp>
        <p:nvSpPr>
          <p:cNvPr id="14" name="TextBox 13"/>
          <p:cNvSpPr txBox="1"/>
          <p:nvPr/>
        </p:nvSpPr>
        <p:spPr>
          <a:xfrm>
            <a:off x="1234440" y="5111496"/>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Architectural aluminium &amp; cladding</a:t>
            </a:r>
          </a:p>
        </p:txBody>
      </p:sp>
      <p:sp>
        <p:nvSpPr>
          <p:cNvPr id="15" name="TextBox 14"/>
          <p:cNvSpPr txBox="1"/>
          <p:nvPr/>
        </p:nvSpPr>
        <p:spPr>
          <a:xfrm>
            <a:off x="1234440" y="5312664"/>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Rail transit components</a:t>
            </a:r>
          </a:p>
        </p:txBody>
      </p:sp>
      <p:sp>
        <p:nvSpPr>
          <p:cNvPr id="16" name="TextBox 15"/>
          <p:cNvSpPr txBox="1"/>
          <p:nvPr/>
        </p:nvSpPr>
        <p:spPr>
          <a:xfrm>
            <a:off x="1234440" y="5513832"/>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EV / ESU housings</a:t>
            </a:r>
          </a:p>
        </p:txBody>
      </p:sp>
      <p:sp>
        <p:nvSpPr>
          <p:cNvPr id="17" name="Rounded Rectangle 16"/>
          <p:cNvSpPr/>
          <p:nvPr/>
        </p:nvSpPr>
        <p:spPr>
          <a:xfrm>
            <a:off x="3114995" y="3657600"/>
            <a:ext cx="1926275" cy="2194560"/>
          </a:xfrm>
          <a:prstGeom prst="roundRect">
            <a:avLst>
              <a:gd name="adj" fmla="val 93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2155" y="3794760"/>
            <a:ext cx="1651955" cy="274320"/>
          </a:xfrm>
          <a:prstGeom prst="rect">
            <a:avLst/>
          </a:prstGeom>
          <a:noFill/>
        </p:spPr>
        <p:txBody>
          <a:bodyPr wrap="square" lIns="0" rIns="0" tIns="0" bIns="0" anchor="t">
            <a:spAutoFit/>
          </a:bodyPr>
          <a:lstStyle/>
          <a:p>
            <a:pPr algn="l">
              <a:lnSpc>
                <a:spcPct val="120000"/>
              </a:lnSpc>
            </a:pPr>
            <a:r>
              <a:rPr sz="800" b="1" i="0" spc="160">
                <a:solidFill>
                  <a:srgbClr val="0071E3"/>
                </a:solidFill>
                <a:latin typeface="Inter"/>
              </a:rPr>
              <a:t>B · CABLE &amp; HARNESS</a:t>
            </a:r>
          </a:p>
        </p:txBody>
      </p:sp>
      <p:sp>
        <p:nvSpPr>
          <p:cNvPr id="19" name="TextBox 18"/>
          <p:cNvSpPr txBox="1"/>
          <p:nvPr/>
        </p:nvSpPr>
        <p:spPr>
          <a:xfrm>
            <a:off x="3252155" y="4069080"/>
            <a:ext cx="1651955" cy="640080"/>
          </a:xfrm>
          <a:prstGeom prst="rect">
            <a:avLst/>
          </a:prstGeom>
          <a:noFill/>
        </p:spPr>
        <p:txBody>
          <a:bodyPr wrap="square" lIns="0" rIns="0" tIns="0" bIns="0" anchor="t">
            <a:spAutoFit/>
          </a:bodyPr>
          <a:lstStyle/>
          <a:p>
            <a:pPr algn="l">
              <a:lnSpc>
                <a:spcPct val="115000"/>
              </a:lnSpc>
            </a:pPr>
            <a:r>
              <a:rPr sz="1100" b="1" i="0">
                <a:solidFill>
                  <a:srgbClr val="1D1D1F"/>
                </a:solidFill>
                <a:latin typeface="Inter"/>
              </a:rPr>
              <a:t>Single harness to batch production.</a:t>
            </a:r>
          </a:p>
        </p:txBody>
      </p:sp>
      <p:sp>
        <p:nvSpPr>
          <p:cNvPr id="20" name="TextBox 19"/>
          <p:cNvSpPr txBox="1"/>
          <p:nvPr/>
        </p:nvSpPr>
        <p:spPr>
          <a:xfrm>
            <a:off x="3252155" y="4709160"/>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Industrial wire harnesses</a:t>
            </a:r>
          </a:p>
        </p:txBody>
      </p:sp>
      <p:sp>
        <p:nvSpPr>
          <p:cNvPr id="21" name="TextBox 20"/>
          <p:cNvSpPr txBox="1"/>
          <p:nvPr/>
        </p:nvSpPr>
        <p:spPr>
          <a:xfrm>
            <a:off x="3252155" y="4910328"/>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Automotive-grade assemblies</a:t>
            </a:r>
          </a:p>
        </p:txBody>
      </p:sp>
      <p:sp>
        <p:nvSpPr>
          <p:cNvPr id="22" name="TextBox 21"/>
          <p:cNvSpPr txBox="1"/>
          <p:nvPr/>
        </p:nvSpPr>
        <p:spPr>
          <a:xfrm>
            <a:off x="3252155" y="5111496"/>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Defense-grade cabling</a:t>
            </a:r>
          </a:p>
        </p:txBody>
      </p:sp>
      <p:sp>
        <p:nvSpPr>
          <p:cNvPr id="23" name="TextBox 22"/>
          <p:cNvSpPr txBox="1"/>
          <p:nvPr/>
        </p:nvSpPr>
        <p:spPr>
          <a:xfrm>
            <a:off x="3252155" y="5312664"/>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Custom power cables</a:t>
            </a:r>
          </a:p>
        </p:txBody>
      </p:sp>
      <p:sp>
        <p:nvSpPr>
          <p:cNvPr id="24" name="TextBox 23"/>
          <p:cNvSpPr txBox="1"/>
          <p:nvPr/>
        </p:nvSpPr>
        <p:spPr>
          <a:xfrm>
            <a:off x="3252155" y="5513832"/>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Fiber optic &amp; defense optics</a:t>
            </a:r>
          </a:p>
        </p:txBody>
      </p:sp>
      <p:sp>
        <p:nvSpPr>
          <p:cNvPr id="25" name="Rounded Rectangle 24"/>
          <p:cNvSpPr/>
          <p:nvPr/>
        </p:nvSpPr>
        <p:spPr>
          <a:xfrm>
            <a:off x="5132710" y="3657600"/>
            <a:ext cx="1926275" cy="2194560"/>
          </a:xfrm>
          <a:prstGeom prst="roundRect">
            <a:avLst>
              <a:gd name="adj" fmla="val 93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69870" y="3794760"/>
            <a:ext cx="1651955" cy="274320"/>
          </a:xfrm>
          <a:prstGeom prst="rect">
            <a:avLst/>
          </a:prstGeom>
          <a:noFill/>
        </p:spPr>
        <p:txBody>
          <a:bodyPr wrap="square" lIns="0" rIns="0" tIns="0" bIns="0" anchor="t">
            <a:spAutoFit/>
          </a:bodyPr>
          <a:lstStyle/>
          <a:p>
            <a:pPr algn="l">
              <a:lnSpc>
                <a:spcPct val="120000"/>
              </a:lnSpc>
            </a:pPr>
            <a:r>
              <a:rPr sz="800" b="1" i="0" spc="160">
                <a:solidFill>
                  <a:srgbClr val="0071E3"/>
                </a:solidFill>
                <a:latin typeface="Inter"/>
              </a:rPr>
              <a:t>C · CONTROL PANELS</a:t>
            </a:r>
          </a:p>
        </p:txBody>
      </p:sp>
      <p:sp>
        <p:nvSpPr>
          <p:cNvPr id="27" name="TextBox 26"/>
          <p:cNvSpPr txBox="1"/>
          <p:nvPr/>
        </p:nvSpPr>
        <p:spPr>
          <a:xfrm>
            <a:off x="5269870" y="4069080"/>
            <a:ext cx="1651955" cy="640080"/>
          </a:xfrm>
          <a:prstGeom prst="rect">
            <a:avLst/>
          </a:prstGeom>
          <a:noFill/>
        </p:spPr>
        <p:txBody>
          <a:bodyPr wrap="square" lIns="0" rIns="0" tIns="0" bIns="0" anchor="t">
            <a:spAutoFit/>
          </a:bodyPr>
          <a:lstStyle/>
          <a:p>
            <a:pPr algn="l">
              <a:lnSpc>
                <a:spcPct val="115000"/>
              </a:lnSpc>
            </a:pPr>
            <a:r>
              <a:rPr sz="1100" b="1" i="0">
                <a:solidFill>
                  <a:srgbClr val="1D1D1F"/>
                </a:solidFill>
                <a:latin typeface="Inter"/>
              </a:rPr>
              <a:t>Relay logic to PLC automation.</a:t>
            </a:r>
          </a:p>
        </p:txBody>
      </p:sp>
      <p:sp>
        <p:nvSpPr>
          <p:cNvPr id="28" name="TextBox 27"/>
          <p:cNvSpPr txBox="1"/>
          <p:nvPr/>
        </p:nvSpPr>
        <p:spPr>
          <a:xfrm>
            <a:off x="5269870" y="4709160"/>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Industrial &amp; remote I/O panels</a:t>
            </a:r>
          </a:p>
        </p:txBody>
      </p:sp>
      <p:sp>
        <p:nvSpPr>
          <p:cNvPr id="29" name="TextBox 28"/>
          <p:cNvSpPr txBox="1"/>
          <p:nvPr/>
        </p:nvSpPr>
        <p:spPr>
          <a:xfrm>
            <a:off x="5269870" y="4910328"/>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Stainless panels for harsh sites</a:t>
            </a:r>
          </a:p>
        </p:txBody>
      </p:sp>
      <p:sp>
        <p:nvSpPr>
          <p:cNvPr id="30" name="TextBox 29"/>
          <p:cNvSpPr txBox="1"/>
          <p:nvPr/>
        </p:nvSpPr>
        <p:spPr>
          <a:xfrm>
            <a:off x="5269870" y="5111496"/>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Pre-wired box-build assemblies</a:t>
            </a:r>
          </a:p>
        </p:txBody>
      </p:sp>
      <p:sp>
        <p:nvSpPr>
          <p:cNvPr id="31" name="TextBox 30"/>
          <p:cNvSpPr txBox="1"/>
          <p:nvPr/>
        </p:nvSpPr>
        <p:spPr>
          <a:xfrm>
            <a:off x="5269870" y="5312664"/>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Ex-rated junction boxes</a:t>
            </a:r>
          </a:p>
        </p:txBody>
      </p:sp>
      <p:sp>
        <p:nvSpPr>
          <p:cNvPr id="32" name="TextBox 31"/>
          <p:cNvSpPr txBox="1"/>
          <p:nvPr/>
        </p:nvSpPr>
        <p:spPr>
          <a:xfrm>
            <a:off x="5269870" y="5513832"/>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Schneider PLC · Magelis HMI</a:t>
            </a:r>
          </a:p>
        </p:txBody>
      </p:sp>
      <p:sp>
        <p:nvSpPr>
          <p:cNvPr id="33" name="Rounded Rectangle 32"/>
          <p:cNvSpPr/>
          <p:nvPr/>
        </p:nvSpPr>
        <p:spPr>
          <a:xfrm>
            <a:off x="7150425" y="3657600"/>
            <a:ext cx="1926275" cy="2194560"/>
          </a:xfrm>
          <a:prstGeom prst="roundRect">
            <a:avLst>
              <a:gd name="adj" fmla="val 93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7585" y="3794760"/>
            <a:ext cx="1651955" cy="274320"/>
          </a:xfrm>
          <a:prstGeom prst="rect">
            <a:avLst/>
          </a:prstGeom>
          <a:noFill/>
        </p:spPr>
        <p:txBody>
          <a:bodyPr wrap="square" lIns="0" rIns="0" tIns="0" bIns="0" anchor="t">
            <a:spAutoFit/>
          </a:bodyPr>
          <a:lstStyle/>
          <a:p>
            <a:pPr algn="l">
              <a:lnSpc>
                <a:spcPct val="120000"/>
              </a:lnSpc>
            </a:pPr>
            <a:r>
              <a:rPr sz="800" b="1" i="0" spc="160">
                <a:solidFill>
                  <a:srgbClr val="0071E3"/>
                </a:solidFill>
                <a:latin typeface="Inter"/>
              </a:rPr>
              <a:t>D · PCB &amp; ELECTRONICS</a:t>
            </a:r>
          </a:p>
        </p:txBody>
      </p:sp>
      <p:sp>
        <p:nvSpPr>
          <p:cNvPr id="35" name="TextBox 34"/>
          <p:cNvSpPr txBox="1"/>
          <p:nvPr/>
        </p:nvSpPr>
        <p:spPr>
          <a:xfrm>
            <a:off x="7287585" y="4069080"/>
            <a:ext cx="1651955" cy="640080"/>
          </a:xfrm>
          <a:prstGeom prst="rect">
            <a:avLst/>
          </a:prstGeom>
          <a:noFill/>
        </p:spPr>
        <p:txBody>
          <a:bodyPr wrap="square" lIns="0" rIns="0" tIns="0" bIns="0" anchor="t">
            <a:spAutoFit/>
          </a:bodyPr>
          <a:lstStyle/>
          <a:p>
            <a:pPr algn="l">
              <a:lnSpc>
                <a:spcPct val="115000"/>
              </a:lnSpc>
            </a:pPr>
            <a:r>
              <a:rPr sz="1100" b="1" i="0">
                <a:solidFill>
                  <a:srgbClr val="1D1D1F"/>
                </a:solidFill>
                <a:latin typeface="Inter"/>
              </a:rPr>
              <a:t>Board assembly &amp; box-build.</a:t>
            </a:r>
          </a:p>
        </p:txBody>
      </p:sp>
      <p:sp>
        <p:nvSpPr>
          <p:cNvPr id="36" name="TextBox 35"/>
          <p:cNvSpPr txBox="1"/>
          <p:nvPr/>
        </p:nvSpPr>
        <p:spPr>
          <a:xfrm>
            <a:off x="7287585" y="4709160"/>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SMT PCB assembly</a:t>
            </a:r>
          </a:p>
        </p:txBody>
      </p:sp>
      <p:sp>
        <p:nvSpPr>
          <p:cNvPr id="37" name="TextBox 36"/>
          <p:cNvSpPr txBox="1"/>
          <p:nvPr/>
        </p:nvSpPr>
        <p:spPr>
          <a:xfrm>
            <a:off x="7287585" y="4910328"/>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Through-hole &amp; mixed-tech</a:t>
            </a:r>
          </a:p>
        </p:txBody>
      </p:sp>
      <p:sp>
        <p:nvSpPr>
          <p:cNvPr id="38" name="TextBox 37"/>
          <p:cNvSpPr txBox="1"/>
          <p:nvPr/>
        </p:nvSpPr>
        <p:spPr>
          <a:xfrm>
            <a:off x="7287585" y="5111496"/>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Box-build electronics</a:t>
            </a:r>
          </a:p>
        </p:txBody>
      </p:sp>
      <p:sp>
        <p:nvSpPr>
          <p:cNvPr id="39" name="TextBox 38"/>
          <p:cNvSpPr txBox="1"/>
          <p:nvPr/>
        </p:nvSpPr>
        <p:spPr>
          <a:xfrm>
            <a:off x="7287585" y="5312664"/>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Industrial &amp; defense-grade</a:t>
            </a:r>
          </a:p>
        </p:txBody>
      </p:sp>
      <p:sp>
        <p:nvSpPr>
          <p:cNvPr id="40" name="TextBox 39"/>
          <p:cNvSpPr txBox="1"/>
          <p:nvPr/>
        </p:nvSpPr>
        <p:spPr>
          <a:xfrm>
            <a:off x="7287585" y="5513832"/>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Medical, biometric, railway</a:t>
            </a:r>
          </a:p>
        </p:txBody>
      </p:sp>
      <p:sp>
        <p:nvSpPr>
          <p:cNvPr id="41" name="Rounded Rectangle 40"/>
          <p:cNvSpPr/>
          <p:nvPr/>
        </p:nvSpPr>
        <p:spPr>
          <a:xfrm>
            <a:off x="9168140" y="3657600"/>
            <a:ext cx="1926275" cy="2194560"/>
          </a:xfrm>
          <a:prstGeom prst="roundRect">
            <a:avLst>
              <a:gd name="adj" fmla="val 93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05300" y="3794760"/>
            <a:ext cx="1651955" cy="274320"/>
          </a:xfrm>
          <a:prstGeom prst="rect">
            <a:avLst/>
          </a:prstGeom>
          <a:noFill/>
        </p:spPr>
        <p:txBody>
          <a:bodyPr wrap="square" lIns="0" rIns="0" tIns="0" bIns="0" anchor="t">
            <a:spAutoFit/>
          </a:bodyPr>
          <a:lstStyle/>
          <a:p>
            <a:pPr algn="l">
              <a:lnSpc>
                <a:spcPct val="120000"/>
              </a:lnSpc>
            </a:pPr>
            <a:r>
              <a:rPr sz="800" b="1" i="0" spc="160">
                <a:solidFill>
                  <a:srgbClr val="0071E3"/>
                </a:solidFill>
                <a:latin typeface="Inter"/>
              </a:rPr>
              <a:t>E · NEW ENERGY</a:t>
            </a:r>
          </a:p>
        </p:txBody>
      </p:sp>
      <p:sp>
        <p:nvSpPr>
          <p:cNvPr id="43" name="TextBox 42"/>
          <p:cNvSpPr txBox="1"/>
          <p:nvPr/>
        </p:nvSpPr>
        <p:spPr>
          <a:xfrm>
            <a:off x="9305300" y="4069080"/>
            <a:ext cx="1651955" cy="640080"/>
          </a:xfrm>
          <a:prstGeom prst="rect">
            <a:avLst/>
          </a:prstGeom>
          <a:noFill/>
        </p:spPr>
        <p:txBody>
          <a:bodyPr wrap="square" lIns="0" rIns="0" tIns="0" bIns="0" anchor="t">
            <a:spAutoFit/>
          </a:bodyPr>
          <a:lstStyle/>
          <a:p>
            <a:pPr algn="l">
              <a:lnSpc>
                <a:spcPct val="115000"/>
              </a:lnSpc>
            </a:pPr>
            <a:r>
              <a:rPr sz="1100" b="1" i="0">
                <a:solidFill>
                  <a:srgbClr val="1D1D1F"/>
                </a:solidFill>
                <a:latin typeface="Inter"/>
              </a:rPr>
              <a:t>EV, ESU, and grid-tied hardware.</a:t>
            </a:r>
          </a:p>
        </p:txBody>
      </p:sp>
      <p:sp>
        <p:nvSpPr>
          <p:cNvPr id="44" name="TextBox 43"/>
          <p:cNvSpPr txBox="1"/>
          <p:nvPr/>
        </p:nvSpPr>
        <p:spPr>
          <a:xfrm>
            <a:off x="9305300" y="4709160"/>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EV charging cabinets</a:t>
            </a:r>
          </a:p>
        </p:txBody>
      </p:sp>
      <p:sp>
        <p:nvSpPr>
          <p:cNvPr id="45" name="TextBox 44"/>
          <p:cNvSpPr txBox="1"/>
          <p:nvPr/>
        </p:nvSpPr>
        <p:spPr>
          <a:xfrm>
            <a:off x="9305300" y="4910328"/>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ESU control cabinets</a:t>
            </a:r>
          </a:p>
        </p:txBody>
      </p:sp>
      <p:sp>
        <p:nvSpPr>
          <p:cNvPr id="46" name="TextBox 45"/>
          <p:cNvSpPr txBox="1"/>
          <p:nvPr/>
        </p:nvSpPr>
        <p:spPr>
          <a:xfrm>
            <a:off x="9305300" y="5111496"/>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Lithium battery oven housings</a:t>
            </a:r>
          </a:p>
        </p:txBody>
      </p:sp>
      <p:sp>
        <p:nvSpPr>
          <p:cNvPr id="47" name="TextBox 46"/>
          <p:cNvSpPr txBox="1"/>
          <p:nvPr/>
        </p:nvSpPr>
        <p:spPr>
          <a:xfrm>
            <a:off x="9305300" y="5312664"/>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Grid-tied structural components</a:t>
            </a:r>
          </a:p>
        </p:txBody>
      </p:sp>
      <p:sp>
        <p:nvSpPr>
          <p:cNvPr id="48" name="TextBox 47"/>
          <p:cNvSpPr txBox="1"/>
          <p:nvPr/>
        </p:nvSpPr>
        <p:spPr>
          <a:xfrm>
            <a:off x="9305300" y="5513832"/>
            <a:ext cx="1651955" cy="201168"/>
          </a:xfrm>
          <a:prstGeom prst="rect">
            <a:avLst/>
          </a:prstGeom>
          <a:noFill/>
        </p:spPr>
        <p:txBody>
          <a:bodyPr wrap="square" lIns="0" rIns="0" tIns="0" bIns="0" anchor="t">
            <a:spAutoFit/>
          </a:bodyPr>
          <a:lstStyle/>
          <a:p>
            <a:pPr algn="l">
              <a:lnSpc>
                <a:spcPct val="130000"/>
              </a:lnSpc>
            </a:pPr>
            <a:r>
              <a:rPr sz="800" b="0" i="0">
                <a:solidFill>
                  <a:srgbClr val="6E6E73"/>
                </a:solidFill>
                <a:latin typeface="Inter"/>
              </a:rPr>
              <a:t>Custom enclosures, to spec</a:t>
            </a:r>
          </a:p>
        </p:txBody>
      </p:sp>
      <p:sp>
        <p:nvSpPr>
          <p:cNvPr id="49" name="Rectangle 48"/>
          <p:cNvSpPr/>
          <p:nvPr/>
        </p:nvSpPr>
        <p:spPr>
          <a:xfrm>
            <a:off x="1097280" y="5989320"/>
            <a:ext cx="10058400" cy="502920"/>
          </a:xfrm>
          <a:prstGeom prst="rect">
            <a:avLst/>
          </a:prstGeom>
          <a:noFill/>
          <a:ln w="9525">
            <a:solidFill>
              <a:srgbClr val="007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71600" y="6080760"/>
            <a:ext cx="7315200" cy="320040"/>
          </a:xfrm>
          <a:prstGeom prst="rect">
            <a:avLst/>
          </a:prstGeom>
          <a:noFill/>
        </p:spPr>
        <p:txBody>
          <a:bodyPr wrap="square" lIns="0" rIns="0" tIns="0" bIns="0" anchor="t">
            <a:spAutoFit/>
          </a:bodyPr>
          <a:lstStyle/>
          <a:p>
            <a:pPr algn="l">
              <a:lnSpc>
                <a:spcPct val="130000"/>
              </a:lnSpc>
            </a:pPr>
            <a:r>
              <a:rPr sz="1100" b="1" i="1">
                <a:solidFill>
                  <a:srgbClr val="0071E3"/>
                </a:solidFill>
                <a:latin typeface="Inter"/>
              </a:rPr>
              <a:t>Singapore quality, global cost.</a:t>
            </a:r>
            <a:r>
              <a:rPr sz="1100" b="0" i="0">
                <a:solidFill>
                  <a:srgbClr val="6E6E73"/>
                </a:solidFill>
                <a:latin typeface="Inter"/>
              </a:rPr>
              <a:t> One scope. One schedule. One QA standard. One point of accountability — local.</a:t>
            </a:r>
          </a:p>
        </p:txBody>
      </p:sp>
      <p:sp>
        <p:nvSpPr>
          <p:cNvPr id="51" name="TextBox 50"/>
          <p:cNvSpPr txBox="1"/>
          <p:nvPr/>
        </p:nvSpPr>
        <p:spPr>
          <a:xfrm>
            <a:off x="8869680" y="6126480"/>
            <a:ext cx="2286000" cy="320040"/>
          </a:xfrm>
          <a:prstGeom prst="rect">
            <a:avLst/>
          </a:prstGeom>
          <a:noFill/>
        </p:spPr>
        <p:txBody>
          <a:bodyPr wrap="square" lIns="0" rIns="0" tIns="0" bIns="0" anchor="t">
            <a:spAutoFit/>
          </a:bodyPr>
          <a:lstStyle/>
          <a:p>
            <a:pPr algn="r">
              <a:lnSpc>
                <a:spcPct val="120000"/>
              </a:lnSpc>
            </a:pPr>
            <a:r>
              <a:rPr sz="900" b="1" i="0" spc="160">
                <a:solidFill>
                  <a:srgbClr val="0071E3"/>
                </a:solidFill>
                <a:latin typeface="Inter"/>
              </a:rPr>
              <a:t>FIVE CATEGORIES · ONE PARTNER</a:t>
            </a:r>
          </a:p>
        </p:txBody>
      </p:sp>
      <p:sp>
        <p:nvSpPr>
          <p:cNvPr id="52" name="TextBox 51"/>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NOT A MARKETPLACE. A VETTED VENDOR NETWORK — MANAGED BY ENGINEERS.</a:t>
            </a:r>
          </a:p>
        </p:txBody>
      </p:sp>
      <p:sp>
        <p:nvSpPr>
          <p:cNvPr id="53" name="TextBox 52"/>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15 </a:t>
            </a:r>
            <a:r>
              <a:rPr sz="1000" b="1" i="0" spc="160">
                <a:solidFill>
                  <a:srgbClr val="86868B"/>
                </a:solidFill>
                <a:latin typeface="Inter"/>
              </a:rPr>
              <a:t>/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2 · THE POSITIONING · 16</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WHY US, INSTEAD OF EVERYONE ELSE</a:t>
            </a:r>
          </a:p>
        </p:txBody>
      </p:sp>
      <p:sp>
        <p:nvSpPr>
          <p:cNvPr id="7" name="TextBox 6"/>
          <p:cNvSpPr txBox="1"/>
          <p:nvPr/>
        </p:nvSpPr>
        <p:spPr>
          <a:xfrm>
            <a:off x="1097280" y="1371600"/>
            <a:ext cx="10058400" cy="1280160"/>
          </a:xfrm>
          <a:prstGeom prst="rect">
            <a:avLst/>
          </a:prstGeom>
          <a:noFill/>
        </p:spPr>
        <p:txBody>
          <a:bodyPr wrap="square" lIns="0" rIns="0" tIns="0" bIns="0" anchor="t">
            <a:spAutoFit/>
          </a:bodyPr>
          <a:lstStyle/>
          <a:p>
            <a:pPr algn="l">
              <a:lnSpc>
                <a:spcPct val="110000"/>
              </a:lnSpc>
            </a:pPr>
            <a:r>
              <a:rPr sz="3400" b="1" i="0">
                <a:solidFill>
                  <a:srgbClr val="1D1D1F"/>
                </a:solidFill>
                <a:latin typeface="Inter"/>
              </a:rPr>
              <a:t>Three structural differences</a:t>
            </a:r>
          </a:p>
          <a:p>
            <a:pPr algn="l">
              <a:lnSpc>
                <a:spcPct val="110000"/>
              </a:lnSpc>
            </a:pPr>
            <a:r>
              <a:rPr sz="3400" b="1" i="0">
                <a:solidFill>
                  <a:srgbClr val="1D1D1F"/>
                </a:solidFill>
                <a:latin typeface="Inter"/>
              </a:rPr>
              <a:t>incumbents </a:t>
            </a:r>
            <a:r>
              <a:rPr sz="3400" b="1" i="1">
                <a:solidFill>
                  <a:srgbClr val="0071E3"/>
                </a:solidFill>
                <a:latin typeface="Inter"/>
              </a:rPr>
              <a:t>cannot copy.</a:t>
            </a:r>
          </a:p>
        </p:txBody>
      </p:sp>
      <p:sp>
        <p:nvSpPr>
          <p:cNvPr id="8" name="TextBox 7"/>
          <p:cNvSpPr txBox="1"/>
          <p:nvPr/>
        </p:nvSpPr>
        <p:spPr>
          <a:xfrm>
            <a:off x="1097280" y="3200400"/>
            <a:ext cx="3058058" cy="64008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01</a:t>
            </a:r>
          </a:p>
        </p:txBody>
      </p:sp>
      <p:sp>
        <p:nvSpPr>
          <p:cNvPr id="9" name="TextBox 8"/>
          <p:cNvSpPr txBox="1"/>
          <p:nvPr/>
        </p:nvSpPr>
        <p:spPr>
          <a:xfrm>
            <a:off x="1097280" y="3794760"/>
            <a:ext cx="305805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Honest pricing, by structure.</a:t>
            </a:r>
          </a:p>
        </p:txBody>
      </p:sp>
      <p:sp>
        <p:nvSpPr>
          <p:cNvPr id="10" name="TextBox 9"/>
          <p:cNvSpPr txBox="1"/>
          <p:nvPr/>
        </p:nvSpPr>
        <p:spPr>
          <a:xfrm>
            <a:off x="1097280" y="4251960"/>
            <a:ext cx="3058058" cy="182880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Others earn from licence fees, annual maintenance, and expensive IT day rates — recurring income whether or not you see value. We earn from work delivered. Our monthly fee is deliberately low, or zero between projects. Finishing the work is the objective.</a:t>
            </a:r>
          </a:p>
        </p:txBody>
      </p:sp>
      <p:sp>
        <p:nvSpPr>
          <p:cNvPr id="11" name="TextBox 10"/>
          <p:cNvSpPr txBox="1"/>
          <p:nvPr/>
        </p:nvSpPr>
        <p:spPr>
          <a:xfrm>
            <a:off x="4429658" y="3200400"/>
            <a:ext cx="3058058" cy="64008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02</a:t>
            </a:r>
          </a:p>
        </p:txBody>
      </p:sp>
      <p:sp>
        <p:nvSpPr>
          <p:cNvPr id="12" name="TextBox 11"/>
          <p:cNvSpPr txBox="1"/>
          <p:nvPr/>
        </p:nvSpPr>
        <p:spPr>
          <a:xfrm>
            <a:off x="4429658" y="3794760"/>
            <a:ext cx="305805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Lean company, global talent.</a:t>
            </a:r>
          </a:p>
        </p:txBody>
      </p:sp>
      <p:sp>
        <p:nvSpPr>
          <p:cNvPr id="13" name="TextBox 12"/>
          <p:cNvSpPr txBox="1"/>
          <p:nvPr/>
        </p:nvSpPr>
        <p:spPr>
          <a:xfrm>
            <a:off x="4429658" y="4251960"/>
            <a:ext cx="3058058" cy="182880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No complicated internal workflow. No heavy overhead. We source specialist engineers worldwide, passing the cost advantage through to you — not pocketing it. Large consultancies can't quote S$8K for a fixed scope because their structure makes it unprofitable. Ours doesn't.</a:t>
            </a:r>
          </a:p>
        </p:txBody>
      </p:sp>
      <p:sp>
        <p:nvSpPr>
          <p:cNvPr id="14" name="TextBox 13"/>
          <p:cNvSpPr txBox="1"/>
          <p:nvPr/>
        </p:nvSpPr>
        <p:spPr>
          <a:xfrm>
            <a:off x="7762036" y="3200400"/>
            <a:ext cx="3058058" cy="640080"/>
          </a:xfrm>
          <a:prstGeom prst="rect">
            <a:avLst/>
          </a:prstGeom>
          <a:noFill/>
        </p:spPr>
        <p:txBody>
          <a:bodyPr wrap="square" lIns="0" rIns="0" tIns="0" bIns="0" anchor="t">
            <a:spAutoFit/>
          </a:bodyPr>
          <a:lstStyle/>
          <a:p>
            <a:pPr algn="l">
              <a:lnSpc>
                <a:spcPct val="120000"/>
              </a:lnSpc>
            </a:pPr>
            <a:r>
              <a:rPr sz="3000" b="1" i="0">
                <a:solidFill>
                  <a:srgbClr val="0071E3"/>
                </a:solidFill>
                <a:latin typeface="Inter"/>
              </a:rPr>
              <a:t>03</a:t>
            </a:r>
          </a:p>
        </p:txBody>
      </p:sp>
      <p:sp>
        <p:nvSpPr>
          <p:cNvPr id="15" name="TextBox 14"/>
          <p:cNvSpPr txBox="1"/>
          <p:nvPr/>
        </p:nvSpPr>
        <p:spPr>
          <a:xfrm>
            <a:off x="7762036" y="3794760"/>
            <a:ext cx="3058058" cy="457200"/>
          </a:xfrm>
          <a:prstGeom prst="rect">
            <a:avLst/>
          </a:prstGeom>
          <a:noFill/>
        </p:spPr>
        <p:txBody>
          <a:bodyPr wrap="square" lIns="0" rIns="0" tIns="0" bIns="0" anchor="t">
            <a:spAutoFit/>
          </a:bodyPr>
          <a:lstStyle/>
          <a:p>
            <a:pPr algn="l">
              <a:lnSpc>
                <a:spcPct val="120000"/>
              </a:lnSpc>
            </a:pPr>
            <a:r>
              <a:rPr sz="1500" b="1" i="0">
                <a:solidFill>
                  <a:srgbClr val="1D1D1F"/>
                </a:solidFill>
                <a:latin typeface="Inter"/>
              </a:rPr>
              <a:t>Engineers only.</a:t>
            </a:r>
          </a:p>
        </p:txBody>
      </p:sp>
      <p:sp>
        <p:nvSpPr>
          <p:cNvPr id="16" name="TextBox 15"/>
          <p:cNvSpPr txBox="1"/>
          <p:nvPr/>
        </p:nvSpPr>
        <p:spPr>
          <a:xfrm>
            <a:off x="7762036" y="4251960"/>
            <a:ext cx="3058058" cy="1828800"/>
          </a:xfrm>
          <a:prstGeom prst="rect">
            <a:avLst/>
          </a:prstGeom>
          <a:noFill/>
        </p:spPr>
        <p:txBody>
          <a:bodyPr wrap="square" lIns="0" rIns="0" tIns="0" bIns="0" anchor="t">
            <a:spAutoFit/>
          </a:bodyPr>
          <a:lstStyle/>
          <a:p>
            <a:pPr algn="l">
              <a:lnSpc>
                <a:spcPct val="145000"/>
              </a:lnSpc>
            </a:pPr>
            <a:r>
              <a:rPr sz="1100" b="0" i="0">
                <a:solidFill>
                  <a:srgbClr val="6E6E73"/>
                </a:solidFill>
                <a:latin typeface="Inter"/>
              </a:rPr>
              <a:t>Not IT consultants with a certification. Not business graduates reading a factory manual. Engineers who have wired panels, written PLC code, debugged production lines. When we configure your inventory module, we know where the physical bins sit.</a:t>
            </a:r>
          </a:p>
        </p:txBody>
      </p:sp>
      <p:sp>
        <p:nvSpPr>
          <p:cNvPr id="17" name="Rounded Rectangle 16"/>
          <p:cNvSpPr/>
          <p:nvPr/>
        </p:nvSpPr>
        <p:spPr>
          <a:xfrm>
            <a:off x="1097280" y="5532120"/>
            <a:ext cx="10058400" cy="777240"/>
          </a:xfrm>
          <a:prstGeom prst="roundRect">
            <a:avLst>
              <a:gd name="adj" fmla="val 2315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97280" y="5532120"/>
            <a:ext cx="38100" cy="777240"/>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5641848"/>
            <a:ext cx="9601200" cy="594360"/>
          </a:xfrm>
          <a:prstGeom prst="rect">
            <a:avLst/>
          </a:prstGeom>
          <a:noFill/>
        </p:spPr>
        <p:txBody>
          <a:bodyPr wrap="square" lIns="0" rIns="0" tIns="0" bIns="0" anchor="t">
            <a:spAutoFit/>
          </a:bodyPr>
          <a:lstStyle/>
          <a:p>
            <a:pPr algn="l">
              <a:lnSpc>
                <a:spcPct val="135000"/>
              </a:lnSpc>
            </a:pPr>
            <a:r>
              <a:rPr sz="1100" b="0" i="1">
                <a:solidFill>
                  <a:srgbClr val="1D1D1F"/>
                </a:solidFill>
                <a:latin typeface="Inter"/>
              </a:rPr>
              <a:t>The question isn't </a:t>
            </a:r>
            <a:r>
              <a:rPr sz="1100" b="0" i="1">
                <a:solidFill>
                  <a:srgbClr val="0071E3"/>
                </a:solidFill>
                <a:latin typeface="Inter"/>
              </a:rPr>
              <a:t>"how can a non-IT company configure systems?" </a:t>
            </a:r>
            <a:r>
              <a:rPr sz="1100" b="0" i="1">
                <a:solidFill>
                  <a:srgbClr val="1D1D1F"/>
                </a:solidFill>
                <a:latin typeface="Inter"/>
              </a:rPr>
              <a:t>The question is — </a:t>
            </a:r>
            <a:r>
              <a:rPr sz="1100" b="0" i="1">
                <a:solidFill>
                  <a:srgbClr val="0071E3"/>
                </a:solidFill>
                <a:latin typeface="Inter"/>
              </a:rPr>
              <a:t>why would you want someone who's never touched a machine configuring the system that runs your factory?</a:t>
            </a:r>
          </a:p>
        </p:txBody>
      </p:sp>
      <p:sp>
        <p:nvSpPr>
          <p:cNvPr id="20" name="TextBox 19"/>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STRIKE WHERE THEY ARE WEAK, NOT WHERE THEY ARE STRONG.</a:t>
            </a:r>
          </a:p>
        </p:txBody>
      </p:sp>
      <p:sp>
        <p:nvSpPr>
          <p:cNvPr id="21" name="TextBox 20"/>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16 </a:t>
            </a:r>
            <a:r>
              <a:rPr sz="1000" b="1" i="0" spc="160">
                <a:solidFill>
                  <a:srgbClr val="86868B"/>
                </a:solidFill>
                <a:latin typeface="Inter"/>
              </a:rPr>
              <a:t>/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3 · CASE STUDY · BEFORE · 17</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THE PROSPECT'S STARTING STATE</a:t>
            </a:r>
          </a:p>
        </p:txBody>
      </p:sp>
      <p:sp>
        <p:nvSpPr>
          <p:cNvPr id="7" name="TextBox 6"/>
          <p:cNvSpPr txBox="1"/>
          <p:nvPr/>
        </p:nvSpPr>
        <p:spPr>
          <a:xfrm>
            <a:off x="1097280" y="1417320"/>
            <a:ext cx="5029200" cy="2560320"/>
          </a:xfrm>
          <a:prstGeom prst="rect">
            <a:avLst/>
          </a:prstGeom>
          <a:noFill/>
        </p:spPr>
        <p:txBody>
          <a:bodyPr wrap="square" lIns="0" rIns="0" tIns="0" bIns="0" anchor="t">
            <a:spAutoFit/>
          </a:bodyPr>
          <a:lstStyle/>
          <a:p>
            <a:pPr algn="l">
              <a:lnSpc>
                <a:spcPct val="105000"/>
              </a:lnSpc>
            </a:pPr>
            <a:r>
              <a:rPr sz="3400" b="1" i="0">
                <a:solidFill>
                  <a:srgbClr val="1D1D1F"/>
                </a:solidFill>
                <a:latin typeface="Inter"/>
              </a:rPr>
              <a:t>A 40-person</a:t>
            </a:r>
          </a:p>
          <a:p>
            <a:pPr algn="l">
              <a:lnSpc>
                <a:spcPct val="105000"/>
              </a:lnSpc>
            </a:pPr>
            <a:r>
              <a:rPr sz="3400" b="1" i="0">
                <a:solidFill>
                  <a:srgbClr val="1D1D1F"/>
                </a:solidFill>
                <a:latin typeface="Inter"/>
              </a:rPr>
              <a:t>precision machining</a:t>
            </a:r>
          </a:p>
          <a:p>
            <a:pPr algn="l">
              <a:lnSpc>
                <a:spcPct val="105000"/>
              </a:lnSpc>
            </a:pPr>
            <a:r>
              <a:rPr sz="3400" b="1" i="0">
                <a:solidFill>
                  <a:srgbClr val="1D1D1F"/>
                </a:solidFill>
                <a:latin typeface="Inter"/>
              </a:rPr>
              <a:t>shop in Tuas.</a:t>
            </a:r>
          </a:p>
          <a:p>
            <a:pPr algn="l">
              <a:lnSpc>
                <a:spcPct val="105000"/>
              </a:lnSpc>
            </a:pPr>
            <a:r>
              <a:rPr sz="3400" b="1" i="1">
                <a:solidFill>
                  <a:srgbClr val="0071E3"/>
                </a:solidFill>
                <a:latin typeface="Inter"/>
              </a:rPr>
              <a:t>Twelve years running.</a:t>
            </a:r>
          </a:p>
        </p:txBody>
      </p:sp>
      <p:sp>
        <p:nvSpPr>
          <p:cNvPr id="8" name="TextBox 7"/>
          <p:cNvSpPr txBox="1"/>
          <p:nvPr/>
        </p:nvSpPr>
        <p:spPr>
          <a:xfrm>
            <a:off x="1097280" y="4297680"/>
            <a:ext cx="5029200" cy="868680"/>
          </a:xfrm>
          <a:prstGeom prst="rect">
            <a:avLst/>
          </a:prstGeom>
          <a:noFill/>
        </p:spPr>
        <p:txBody>
          <a:bodyPr wrap="square" lIns="0" rIns="0" tIns="0" bIns="0" anchor="t">
            <a:spAutoFit/>
          </a:bodyPr>
          <a:lstStyle/>
          <a:p>
            <a:pPr algn="l">
              <a:lnSpc>
                <a:spcPct val="145000"/>
              </a:lnSpc>
            </a:pPr>
            <a:r>
              <a:rPr sz="1200" b="0" i="0">
                <a:solidFill>
                  <a:srgbClr val="6E6E73"/>
                </a:solidFill>
                <a:latin typeface="Inter"/>
              </a:rPr>
              <a:t>Spent S$65K on an ERP two years ago. Vendor ran impressive demos, promised the world, disappeared six months after go-live.</a:t>
            </a:r>
          </a:p>
        </p:txBody>
      </p:sp>
      <p:sp>
        <p:nvSpPr>
          <p:cNvPr id="9" name="TextBox 8"/>
          <p:cNvSpPr txBox="1"/>
          <p:nvPr/>
        </p:nvSpPr>
        <p:spPr>
          <a:xfrm>
            <a:off x="1097280" y="5212080"/>
            <a:ext cx="5029200" cy="868680"/>
          </a:xfrm>
          <a:prstGeom prst="rect">
            <a:avLst/>
          </a:prstGeom>
          <a:noFill/>
        </p:spPr>
        <p:txBody>
          <a:bodyPr wrap="square" lIns="0" rIns="0" tIns="0" bIns="0" anchor="t">
            <a:spAutoFit/>
          </a:bodyPr>
          <a:lstStyle/>
          <a:p>
            <a:pPr algn="l">
              <a:lnSpc>
                <a:spcPct val="145000"/>
              </a:lnSpc>
            </a:pPr>
            <a:r>
              <a:rPr sz="1200" b="0" i="0">
                <a:solidFill>
                  <a:srgbClr val="6E6E73"/>
                </a:solidFill>
                <a:latin typeface="Inter"/>
              </a:rPr>
              <a:t>Today only 2 of 12 modules are used. Staff bypass the system for Excel. Inventory data doesn't match the warehouse.</a:t>
            </a:r>
          </a:p>
        </p:txBody>
      </p:sp>
      <p:sp>
        <p:nvSpPr>
          <p:cNvPr id="10" name="Rounded Rectangle 9"/>
          <p:cNvSpPr/>
          <p:nvPr/>
        </p:nvSpPr>
        <p:spPr>
          <a:xfrm>
            <a:off x="6583680" y="1417320"/>
            <a:ext cx="4572000" cy="777240"/>
          </a:xfrm>
          <a:prstGeom prst="roundRect">
            <a:avLst>
              <a:gd name="adj" fmla="val 231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1527048"/>
            <a:ext cx="18288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MODULE ADOPTION</a:t>
            </a:r>
          </a:p>
        </p:txBody>
      </p:sp>
      <p:sp>
        <p:nvSpPr>
          <p:cNvPr id="12" name="TextBox 11"/>
          <p:cNvSpPr txBox="1"/>
          <p:nvPr/>
        </p:nvSpPr>
        <p:spPr>
          <a:xfrm>
            <a:off x="6812280" y="1783080"/>
            <a:ext cx="22860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2 of 12 active</a:t>
            </a:r>
          </a:p>
        </p:txBody>
      </p:sp>
      <p:sp>
        <p:nvSpPr>
          <p:cNvPr id="13" name="TextBox 12"/>
          <p:cNvSpPr txBox="1"/>
          <p:nvPr/>
        </p:nvSpPr>
        <p:spPr>
          <a:xfrm>
            <a:off x="9144000" y="1581912"/>
            <a:ext cx="1828800" cy="502920"/>
          </a:xfrm>
          <a:prstGeom prst="rect">
            <a:avLst/>
          </a:prstGeom>
          <a:noFill/>
        </p:spPr>
        <p:txBody>
          <a:bodyPr wrap="square" lIns="0" rIns="0" tIns="0" bIns="0" anchor="t">
            <a:spAutoFit/>
          </a:bodyPr>
          <a:lstStyle/>
          <a:p>
            <a:pPr algn="r">
              <a:lnSpc>
                <a:spcPct val="140000"/>
              </a:lnSpc>
            </a:pPr>
            <a:r>
              <a:rPr sz="1000" b="0" i="0">
                <a:solidFill>
                  <a:srgbClr val="86868B"/>
                </a:solidFill>
                <a:latin typeface="Inter"/>
              </a:rPr>
              <a:t>Staff work around the system, not with it.</a:t>
            </a:r>
          </a:p>
        </p:txBody>
      </p:sp>
      <p:sp>
        <p:nvSpPr>
          <p:cNvPr id="14" name="Rounded Rectangle 13"/>
          <p:cNvSpPr/>
          <p:nvPr/>
        </p:nvSpPr>
        <p:spPr>
          <a:xfrm>
            <a:off x="6583680" y="2286000"/>
            <a:ext cx="4572000" cy="777240"/>
          </a:xfrm>
          <a:prstGeom prst="roundRect">
            <a:avLst>
              <a:gd name="adj" fmla="val 231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2395728"/>
            <a:ext cx="18288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INVENTORY ACCURACY</a:t>
            </a:r>
          </a:p>
        </p:txBody>
      </p:sp>
      <p:sp>
        <p:nvSpPr>
          <p:cNvPr id="16" name="TextBox 15"/>
          <p:cNvSpPr txBox="1"/>
          <p:nvPr/>
        </p:nvSpPr>
        <p:spPr>
          <a:xfrm>
            <a:off x="6812280" y="2651760"/>
            <a:ext cx="22860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~60%</a:t>
            </a:r>
          </a:p>
        </p:txBody>
      </p:sp>
      <p:sp>
        <p:nvSpPr>
          <p:cNvPr id="17" name="TextBox 16"/>
          <p:cNvSpPr txBox="1"/>
          <p:nvPr/>
        </p:nvSpPr>
        <p:spPr>
          <a:xfrm>
            <a:off x="9144000" y="2450592"/>
            <a:ext cx="1828800" cy="502920"/>
          </a:xfrm>
          <a:prstGeom prst="rect">
            <a:avLst/>
          </a:prstGeom>
          <a:noFill/>
        </p:spPr>
        <p:txBody>
          <a:bodyPr wrap="square" lIns="0" rIns="0" tIns="0" bIns="0" anchor="t">
            <a:spAutoFit/>
          </a:bodyPr>
          <a:lstStyle/>
          <a:p>
            <a:pPr algn="r">
              <a:lnSpc>
                <a:spcPct val="140000"/>
              </a:lnSpc>
            </a:pPr>
            <a:r>
              <a:rPr sz="1000" b="0" i="0">
                <a:solidFill>
                  <a:srgbClr val="86868B"/>
                </a:solidFill>
                <a:latin typeface="Inter"/>
              </a:rPr>
              <a:t>System says one thing. The shelf says another.</a:t>
            </a:r>
          </a:p>
        </p:txBody>
      </p:sp>
      <p:sp>
        <p:nvSpPr>
          <p:cNvPr id="18" name="Rounded Rectangle 17"/>
          <p:cNvSpPr/>
          <p:nvPr/>
        </p:nvSpPr>
        <p:spPr>
          <a:xfrm>
            <a:off x="6583680" y="3154680"/>
            <a:ext cx="4572000" cy="777240"/>
          </a:xfrm>
          <a:prstGeom prst="roundRect">
            <a:avLst>
              <a:gd name="adj" fmla="val 2315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3264408"/>
            <a:ext cx="18288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MONTHLY VENDOR COST</a:t>
            </a:r>
          </a:p>
        </p:txBody>
      </p:sp>
      <p:sp>
        <p:nvSpPr>
          <p:cNvPr id="20" name="TextBox 19"/>
          <p:cNvSpPr txBox="1"/>
          <p:nvPr/>
        </p:nvSpPr>
        <p:spPr>
          <a:xfrm>
            <a:off x="6812280" y="3520440"/>
            <a:ext cx="2286000" cy="365760"/>
          </a:xfrm>
          <a:prstGeom prst="rect">
            <a:avLst/>
          </a:prstGeom>
          <a:noFill/>
        </p:spPr>
        <p:txBody>
          <a:bodyPr wrap="square" lIns="0" rIns="0" tIns="0" bIns="0" anchor="t">
            <a:spAutoFit/>
          </a:bodyPr>
          <a:lstStyle/>
          <a:p>
            <a:pPr algn="l">
              <a:lnSpc>
                <a:spcPct val="120000"/>
              </a:lnSpc>
            </a:pPr>
            <a:r>
              <a:rPr sz="1800" b="1" i="0">
                <a:solidFill>
                  <a:srgbClr val="1D1D1F"/>
                </a:solidFill>
                <a:latin typeface="Inter"/>
              </a:rPr>
              <a:t>S$2,500/mo</a:t>
            </a:r>
          </a:p>
        </p:txBody>
      </p:sp>
      <p:sp>
        <p:nvSpPr>
          <p:cNvPr id="21" name="TextBox 20"/>
          <p:cNvSpPr txBox="1"/>
          <p:nvPr/>
        </p:nvSpPr>
        <p:spPr>
          <a:xfrm>
            <a:off x="9144000" y="3319272"/>
            <a:ext cx="1828800" cy="502920"/>
          </a:xfrm>
          <a:prstGeom prst="rect">
            <a:avLst/>
          </a:prstGeom>
          <a:noFill/>
        </p:spPr>
        <p:txBody>
          <a:bodyPr wrap="square" lIns="0" rIns="0" tIns="0" bIns="0" anchor="t">
            <a:spAutoFit/>
          </a:bodyPr>
          <a:lstStyle/>
          <a:p>
            <a:pPr algn="r">
              <a:lnSpc>
                <a:spcPct val="140000"/>
              </a:lnSpc>
            </a:pPr>
            <a:r>
              <a:rPr sz="1000" b="0" i="0">
                <a:solidFill>
                  <a:srgbClr val="86868B"/>
                </a:solidFill>
                <a:latin typeface="Inter"/>
              </a:rPr>
              <a:t>Hosting + "support." Tickets take 5 days.</a:t>
            </a:r>
          </a:p>
        </p:txBody>
      </p:sp>
      <p:sp>
        <p:nvSpPr>
          <p:cNvPr id="22" name="Rounded Rectangle 21"/>
          <p:cNvSpPr/>
          <p:nvPr/>
        </p:nvSpPr>
        <p:spPr>
          <a:xfrm>
            <a:off x="6583680" y="4023360"/>
            <a:ext cx="4572000" cy="1051560"/>
          </a:xfrm>
          <a:prstGeom prst="roundRect">
            <a:avLst>
              <a:gd name="adj" fmla="val 17117"/>
            </a:avLst>
          </a:prstGeom>
          <a:solidFill>
            <a:srgbClr val="FFFFFF"/>
          </a:solidFill>
          <a:ln w="9525">
            <a:solidFill>
              <a:srgbClr val="007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4160520"/>
            <a:ext cx="4114800" cy="274320"/>
          </a:xfrm>
          <a:prstGeom prst="rect">
            <a:avLst/>
          </a:prstGeom>
          <a:noFill/>
        </p:spPr>
        <p:txBody>
          <a:bodyPr wrap="square" lIns="0" rIns="0" tIns="0" bIns="0" anchor="t">
            <a:spAutoFit/>
          </a:bodyPr>
          <a:lstStyle/>
          <a:p>
            <a:pPr algn="l">
              <a:lnSpc>
                <a:spcPct val="120000"/>
              </a:lnSpc>
            </a:pPr>
            <a:r>
              <a:rPr sz="900" b="1" i="0" spc="160">
                <a:solidFill>
                  <a:srgbClr val="0071E3"/>
                </a:solidFill>
                <a:latin typeface="Inter"/>
              </a:rPr>
              <a:t>THE REAL DAMAGE</a:t>
            </a:r>
          </a:p>
        </p:txBody>
      </p:sp>
      <p:sp>
        <p:nvSpPr>
          <p:cNvPr id="24" name="TextBox 23"/>
          <p:cNvSpPr txBox="1"/>
          <p:nvPr/>
        </p:nvSpPr>
        <p:spPr>
          <a:xfrm>
            <a:off x="6812280" y="4434840"/>
            <a:ext cx="4114800" cy="548640"/>
          </a:xfrm>
          <a:prstGeom prst="rect">
            <a:avLst/>
          </a:prstGeom>
          <a:noFill/>
        </p:spPr>
        <p:txBody>
          <a:bodyPr wrap="square" lIns="0" rIns="0" tIns="0" bIns="0" anchor="t">
            <a:spAutoFit/>
          </a:bodyPr>
          <a:lstStyle/>
          <a:p>
            <a:pPr algn="l">
              <a:lnSpc>
                <a:spcPct val="130000"/>
              </a:lnSpc>
            </a:pPr>
            <a:r>
              <a:rPr sz="1200" b="0" i="1">
                <a:solidFill>
                  <a:srgbClr val="0071E3"/>
                </a:solidFill>
                <a:latin typeface="Inter"/>
              </a:rPr>
              <a:t>The boss has lost trust in the idea that technology can work for a company his size.</a:t>
            </a:r>
          </a:p>
        </p:txBody>
      </p:sp>
      <p:sp>
        <p:nvSpPr>
          <p:cNvPr id="25" name="TextBox 24"/>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THIS IS NOT A STORY ABOUT SOFTWARE. IT'S A STORY ABOUT BEING ABANDONED MID-IMPLEMENTATION.</a:t>
            </a:r>
          </a:p>
        </p:txBody>
      </p:sp>
      <p:sp>
        <p:nvSpPr>
          <p:cNvPr id="26" name="TextBox 25"/>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17 </a:t>
            </a:r>
            <a:r>
              <a:rPr sz="1000" b="1" i="0" spc="160">
                <a:solidFill>
                  <a:srgbClr val="86868B"/>
                </a:solidFill>
                <a:latin typeface="Inter"/>
              </a:rPr>
              <a:t>/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3 · CASE STUDY · AFTER · 18</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90 DAYS LATER</a:t>
            </a:r>
          </a:p>
        </p:txBody>
      </p:sp>
      <p:sp>
        <p:nvSpPr>
          <p:cNvPr id="7" name="TextBox 6"/>
          <p:cNvSpPr txBox="1"/>
          <p:nvPr/>
        </p:nvSpPr>
        <p:spPr>
          <a:xfrm>
            <a:off x="1097280" y="1371600"/>
            <a:ext cx="10058400" cy="1828800"/>
          </a:xfrm>
          <a:prstGeom prst="rect">
            <a:avLst/>
          </a:prstGeom>
          <a:noFill/>
        </p:spPr>
        <p:txBody>
          <a:bodyPr wrap="square" lIns="0" rIns="0" tIns="0" bIns="0" anchor="t">
            <a:spAutoFit/>
          </a:bodyPr>
          <a:lstStyle/>
          <a:p>
            <a:pPr algn="l">
              <a:lnSpc>
                <a:spcPct val="105000"/>
              </a:lnSpc>
            </a:pPr>
            <a:r>
              <a:rPr sz="3400" b="1" i="0">
                <a:solidFill>
                  <a:srgbClr val="1D1D1F"/>
                </a:solidFill>
                <a:latin typeface="Inter"/>
              </a:rPr>
              <a:t>Same software.</a:t>
            </a:r>
          </a:p>
          <a:p>
            <a:pPr algn="l">
              <a:lnSpc>
                <a:spcPct val="105000"/>
              </a:lnSpc>
            </a:pPr>
            <a:r>
              <a:rPr sz="3400" b="1" i="0">
                <a:solidFill>
                  <a:srgbClr val="1D1D1F"/>
                </a:solidFill>
                <a:latin typeface="Inter"/>
              </a:rPr>
              <a:t>Same team.</a:t>
            </a:r>
          </a:p>
          <a:p>
            <a:pPr algn="l">
              <a:lnSpc>
                <a:spcPct val="105000"/>
              </a:lnSpc>
            </a:pPr>
            <a:r>
              <a:rPr sz="3400" b="1" i="1">
                <a:solidFill>
                  <a:srgbClr val="0071E3"/>
                </a:solidFill>
                <a:latin typeface="Inter"/>
              </a:rPr>
              <a:t>Completely different outcome.</a:t>
            </a:r>
          </a:p>
        </p:txBody>
      </p:sp>
      <p:cxnSp>
        <p:nvCxnSpPr>
          <p:cNvPr id="8" name="Connector 7"/>
          <p:cNvCxnSpPr/>
          <p:nvPr/>
        </p:nvCxnSpPr>
        <p:spPr>
          <a:xfrm>
            <a:off x="1097280" y="370332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88720" y="3776472"/>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MODULE ADOPTION</a:t>
            </a:r>
          </a:p>
        </p:txBody>
      </p:sp>
      <p:sp>
        <p:nvSpPr>
          <p:cNvPr id="10" name="TextBox 9"/>
          <p:cNvSpPr txBox="1"/>
          <p:nvPr/>
        </p:nvSpPr>
        <p:spPr>
          <a:xfrm>
            <a:off x="3840480" y="3749040"/>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2 of 12 active</a:t>
            </a:r>
          </a:p>
        </p:txBody>
      </p:sp>
      <p:sp>
        <p:nvSpPr>
          <p:cNvPr id="11" name="TextBox 10"/>
          <p:cNvSpPr txBox="1"/>
          <p:nvPr/>
        </p:nvSpPr>
        <p:spPr>
          <a:xfrm>
            <a:off x="7315200" y="3749040"/>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8 of 12 actively used</a:t>
            </a:r>
          </a:p>
        </p:txBody>
      </p:sp>
      <p:cxnSp>
        <p:nvCxnSpPr>
          <p:cNvPr id="12" name="Connector 11"/>
          <p:cNvCxnSpPr/>
          <p:nvPr/>
        </p:nvCxnSpPr>
        <p:spPr>
          <a:xfrm>
            <a:off x="1097280" y="4087368"/>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88720" y="4160520"/>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INVENTORY ACCURACY</a:t>
            </a:r>
          </a:p>
        </p:txBody>
      </p:sp>
      <p:sp>
        <p:nvSpPr>
          <p:cNvPr id="14" name="TextBox 13"/>
          <p:cNvSpPr txBox="1"/>
          <p:nvPr/>
        </p:nvSpPr>
        <p:spPr>
          <a:xfrm>
            <a:off x="3840480" y="4133088"/>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~60%</a:t>
            </a:r>
          </a:p>
        </p:txBody>
      </p:sp>
      <p:sp>
        <p:nvSpPr>
          <p:cNvPr id="15" name="TextBox 14"/>
          <p:cNvSpPr txBox="1"/>
          <p:nvPr/>
        </p:nvSpPr>
        <p:spPr>
          <a:xfrm>
            <a:off x="7315200" y="4133088"/>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95%+</a:t>
            </a:r>
          </a:p>
        </p:txBody>
      </p:sp>
      <p:cxnSp>
        <p:nvCxnSpPr>
          <p:cNvPr id="16" name="Connector 15"/>
          <p:cNvCxnSpPr/>
          <p:nvPr/>
        </p:nvCxnSpPr>
        <p:spPr>
          <a:xfrm>
            <a:off x="1097280" y="4471416"/>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88720" y="4544568"/>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MONTHLY SYSTEM COST</a:t>
            </a:r>
          </a:p>
        </p:txBody>
      </p:sp>
      <p:sp>
        <p:nvSpPr>
          <p:cNvPr id="18" name="TextBox 17"/>
          <p:cNvSpPr txBox="1"/>
          <p:nvPr/>
        </p:nvSpPr>
        <p:spPr>
          <a:xfrm>
            <a:off x="3840480" y="4517136"/>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S$2,500 / month</a:t>
            </a:r>
          </a:p>
        </p:txBody>
      </p:sp>
      <p:sp>
        <p:nvSpPr>
          <p:cNvPr id="19" name="TextBox 18"/>
          <p:cNvSpPr txBox="1"/>
          <p:nvPr/>
        </p:nvSpPr>
        <p:spPr>
          <a:xfrm>
            <a:off x="7315200" y="4517136"/>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S$25 / month</a:t>
            </a:r>
          </a:p>
        </p:txBody>
      </p:sp>
      <p:cxnSp>
        <p:nvCxnSpPr>
          <p:cNvPr id="20" name="Connector 19"/>
          <p:cNvCxnSpPr/>
          <p:nvPr/>
        </p:nvCxnSpPr>
        <p:spPr>
          <a:xfrm>
            <a:off x="1097280" y="4855464"/>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188720" y="4928616"/>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REPORT GENERATION</a:t>
            </a:r>
          </a:p>
        </p:txBody>
      </p:sp>
      <p:sp>
        <p:nvSpPr>
          <p:cNvPr id="22" name="TextBox 21"/>
          <p:cNvSpPr txBox="1"/>
          <p:nvPr/>
        </p:nvSpPr>
        <p:spPr>
          <a:xfrm>
            <a:off x="3840480" y="4901184"/>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Manual, 2 hrs/week</a:t>
            </a:r>
          </a:p>
        </p:txBody>
      </p:sp>
      <p:sp>
        <p:nvSpPr>
          <p:cNvPr id="23" name="TextBox 22"/>
          <p:cNvSpPr txBox="1"/>
          <p:nvPr/>
        </p:nvSpPr>
        <p:spPr>
          <a:xfrm>
            <a:off x="7315200" y="4901184"/>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Automated, real-time</a:t>
            </a:r>
          </a:p>
        </p:txBody>
      </p:sp>
      <p:cxnSp>
        <p:nvCxnSpPr>
          <p:cNvPr id="24" name="Connector 23"/>
          <p:cNvCxnSpPr/>
          <p:nvPr/>
        </p:nvCxnSpPr>
        <p:spPr>
          <a:xfrm>
            <a:off x="1097280" y="5239512"/>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88720" y="5312664"/>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ANNUAL HOSTING SAVINGS</a:t>
            </a:r>
          </a:p>
        </p:txBody>
      </p:sp>
      <p:sp>
        <p:nvSpPr>
          <p:cNvPr id="26" name="TextBox 25"/>
          <p:cNvSpPr txBox="1"/>
          <p:nvPr/>
        </p:nvSpPr>
        <p:spPr>
          <a:xfrm>
            <a:off x="3840480" y="5285232"/>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a:t>
            </a:r>
          </a:p>
        </p:txBody>
      </p:sp>
      <p:sp>
        <p:nvSpPr>
          <p:cNvPr id="27" name="TextBox 26"/>
          <p:cNvSpPr txBox="1"/>
          <p:nvPr/>
        </p:nvSpPr>
        <p:spPr>
          <a:xfrm>
            <a:off x="7315200" y="5285232"/>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~S$29,700 / year</a:t>
            </a:r>
          </a:p>
        </p:txBody>
      </p:sp>
      <p:cxnSp>
        <p:nvCxnSpPr>
          <p:cNvPr id="28" name="Connector 27"/>
          <p:cNvCxnSpPr/>
          <p:nvPr/>
        </p:nvCxnSpPr>
        <p:spPr>
          <a:xfrm>
            <a:off x="1097280" y="5623560"/>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188720" y="5696712"/>
            <a:ext cx="2286000" cy="384048"/>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TOTAL RESCUE COST</a:t>
            </a:r>
          </a:p>
        </p:txBody>
      </p:sp>
      <p:sp>
        <p:nvSpPr>
          <p:cNvPr id="30" name="TextBox 29"/>
          <p:cNvSpPr txBox="1"/>
          <p:nvPr/>
        </p:nvSpPr>
        <p:spPr>
          <a:xfrm>
            <a:off x="3840480" y="5669280"/>
            <a:ext cx="3200400" cy="384048"/>
          </a:xfrm>
          <a:prstGeom prst="rect">
            <a:avLst/>
          </a:prstGeom>
          <a:noFill/>
        </p:spPr>
        <p:txBody>
          <a:bodyPr wrap="square" lIns="0" rIns="0" tIns="0" bIns="0" anchor="t">
            <a:spAutoFit/>
          </a:bodyPr>
          <a:lstStyle/>
          <a:p>
            <a:pPr algn="l">
              <a:lnSpc>
                <a:spcPct val="120000"/>
              </a:lnSpc>
            </a:pPr>
            <a:r>
              <a:rPr sz="1200" b="0" i="1">
                <a:solidFill>
                  <a:srgbClr val="86868B"/>
                </a:solidFill>
                <a:latin typeface="Inter"/>
              </a:rPr>
              <a:t>—</a:t>
            </a:r>
          </a:p>
        </p:txBody>
      </p:sp>
      <p:sp>
        <p:nvSpPr>
          <p:cNvPr id="31" name="TextBox 30"/>
          <p:cNvSpPr txBox="1"/>
          <p:nvPr/>
        </p:nvSpPr>
        <p:spPr>
          <a:xfrm>
            <a:off x="7315200" y="5669280"/>
            <a:ext cx="3840480" cy="384048"/>
          </a:xfrm>
          <a:prstGeom prst="rect">
            <a:avLst/>
          </a:prstGeom>
          <a:noFill/>
        </p:spPr>
        <p:txBody>
          <a:bodyPr wrap="square" lIns="0" rIns="0" tIns="0" bIns="0" anchor="t">
            <a:spAutoFit/>
          </a:bodyPr>
          <a:lstStyle/>
          <a:p>
            <a:pPr algn="l">
              <a:lnSpc>
                <a:spcPct val="120000"/>
              </a:lnSpc>
            </a:pPr>
            <a:r>
              <a:rPr sz="1300" b="1" i="0">
                <a:solidFill>
                  <a:srgbClr val="0071E3"/>
                </a:solidFill>
                <a:latin typeface="Inter"/>
              </a:rPr>
              <a:t>S$12K one-time</a:t>
            </a:r>
          </a:p>
        </p:txBody>
      </p:sp>
      <p:cxnSp>
        <p:nvCxnSpPr>
          <p:cNvPr id="32" name="Connector 31"/>
          <p:cNvCxnSpPr/>
          <p:nvPr/>
        </p:nvCxnSpPr>
        <p:spPr>
          <a:xfrm>
            <a:off x="1097280" y="6007608"/>
            <a:ext cx="1005840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HE OPENS ONE SCREEN MONDAY MORNING. INVENTORY. PRODUCTION. DELIVERIES. EVERYTHING.</a:t>
            </a:r>
          </a:p>
        </p:txBody>
      </p:sp>
      <p:sp>
        <p:nvSpPr>
          <p:cNvPr id="34" name="TextBox 33"/>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18 </a:t>
            </a:r>
            <a:r>
              <a:rPr sz="1000" b="1" i="0" spc="160">
                <a:solidFill>
                  <a:srgbClr val="86868B"/>
                </a:solidFill>
                <a:latin typeface="Inter"/>
              </a:rPr>
              <a:t>/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3 · THE ULTIMATE GOAL · 19</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THE REAL PRIZE</a:t>
            </a:r>
          </a:p>
        </p:txBody>
      </p:sp>
      <p:sp>
        <p:nvSpPr>
          <p:cNvPr id="7" name="TextBox 6"/>
          <p:cNvSpPr txBox="1"/>
          <p:nvPr/>
        </p:nvSpPr>
        <p:spPr>
          <a:xfrm>
            <a:off x="1097280" y="1371600"/>
            <a:ext cx="10058400" cy="1554480"/>
          </a:xfrm>
          <a:prstGeom prst="rect">
            <a:avLst/>
          </a:prstGeom>
          <a:noFill/>
        </p:spPr>
        <p:txBody>
          <a:bodyPr wrap="square" lIns="0" rIns="0" tIns="0" bIns="0" anchor="t">
            <a:spAutoFit/>
          </a:bodyPr>
          <a:lstStyle/>
          <a:p>
            <a:pPr algn="l">
              <a:lnSpc>
                <a:spcPct val="110000"/>
              </a:lnSpc>
            </a:pPr>
            <a:r>
              <a:rPr sz="3000" b="1" i="0">
                <a:solidFill>
                  <a:srgbClr val="1D1D1F"/>
                </a:solidFill>
                <a:latin typeface="Inter"/>
              </a:rPr>
              <a:t>Every task assigned</a:t>
            </a:r>
          </a:p>
          <a:p>
            <a:pPr algn="l">
              <a:lnSpc>
                <a:spcPct val="110000"/>
              </a:lnSpc>
            </a:pPr>
            <a:r>
              <a:rPr sz="3000" b="1" i="0">
                <a:solidFill>
                  <a:srgbClr val="1D1D1F"/>
                </a:solidFill>
                <a:latin typeface="Inter"/>
              </a:rPr>
              <a:t>to the </a:t>
            </a:r>
            <a:r>
              <a:rPr sz="3000" b="1" i="1">
                <a:solidFill>
                  <a:srgbClr val="0071E3"/>
                </a:solidFill>
                <a:latin typeface="Inter"/>
              </a:rPr>
              <a:t>right mechanism.</a:t>
            </a:r>
          </a:p>
          <a:p>
            <a:pPr algn="l">
              <a:lnSpc>
                <a:spcPct val="110000"/>
              </a:lnSpc>
            </a:pPr>
            <a:r>
              <a:rPr sz="3000" b="1" i="0">
                <a:solidFill>
                  <a:srgbClr val="1D1D1F"/>
                </a:solidFill>
                <a:latin typeface="Inter"/>
              </a:rPr>
              <a:t>Nobody wasted on the wrong work.</a:t>
            </a:r>
          </a:p>
        </p:txBody>
      </p:sp>
      <p:sp>
        <p:nvSpPr>
          <p:cNvPr id="8" name="Rounded Rectangle 7"/>
          <p:cNvSpPr/>
          <p:nvPr/>
        </p:nvSpPr>
        <p:spPr>
          <a:xfrm>
            <a:off x="1097280" y="3383280"/>
            <a:ext cx="3210458" cy="2651760"/>
          </a:xfrm>
          <a:prstGeom prst="roundRect">
            <a:avLst>
              <a:gd name="adj" fmla="val 862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61188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MECHANISM 01</a:t>
            </a:r>
          </a:p>
        </p:txBody>
      </p:sp>
      <p:sp>
        <p:nvSpPr>
          <p:cNvPr id="10" name="TextBox 9"/>
          <p:cNvSpPr txBox="1"/>
          <p:nvPr/>
        </p:nvSpPr>
        <p:spPr>
          <a:xfrm>
            <a:off x="1371600" y="3886200"/>
            <a:ext cx="2661818" cy="457200"/>
          </a:xfrm>
          <a:prstGeom prst="rect">
            <a:avLst/>
          </a:prstGeom>
          <a:noFill/>
        </p:spPr>
        <p:txBody>
          <a:bodyPr wrap="square" lIns="0" rIns="0" tIns="0" bIns="0" anchor="t">
            <a:spAutoFit/>
          </a:bodyPr>
          <a:lstStyle/>
          <a:p>
            <a:pPr algn="l">
              <a:lnSpc>
                <a:spcPct val="120000"/>
              </a:lnSpc>
            </a:pPr>
            <a:r>
              <a:rPr sz="2200" b="1" i="0">
                <a:solidFill>
                  <a:srgbClr val="1D1D1F"/>
                </a:solidFill>
                <a:latin typeface="Inter"/>
              </a:rPr>
              <a:t>Human</a:t>
            </a:r>
          </a:p>
        </p:txBody>
      </p:sp>
      <p:sp>
        <p:nvSpPr>
          <p:cNvPr id="11" name="TextBox 10"/>
          <p:cNvSpPr txBox="1"/>
          <p:nvPr/>
        </p:nvSpPr>
        <p:spPr>
          <a:xfrm>
            <a:off x="1371600" y="4434840"/>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BEST FOR</a:t>
            </a:r>
          </a:p>
        </p:txBody>
      </p:sp>
      <p:sp>
        <p:nvSpPr>
          <p:cNvPr id="12" name="TextBox 11"/>
          <p:cNvSpPr txBox="1"/>
          <p:nvPr/>
        </p:nvSpPr>
        <p:spPr>
          <a:xfrm>
            <a:off x="1371600" y="466344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Judgement, relationships, creative problem-solving, handling exceptions and edge cases.</a:t>
            </a:r>
          </a:p>
        </p:txBody>
      </p:sp>
      <p:sp>
        <p:nvSpPr>
          <p:cNvPr id="13" name="TextBox 12"/>
          <p:cNvSpPr txBox="1"/>
          <p:nvPr/>
        </p:nvSpPr>
        <p:spPr>
          <a:xfrm>
            <a:off x="1371600" y="5257799"/>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WORST FOR</a:t>
            </a:r>
          </a:p>
        </p:txBody>
      </p:sp>
      <p:sp>
        <p:nvSpPr>
          <p:cNvPr id="14" name="TextBox 13"/>
          <p:cNvSpPr txBox="1"/>
          <p:nvPr/>
        </p:nvSpPr>
        <p:spPr>
          <a:xfrm>
            <a:off x="1371600" y="548640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Repetitive data entry, rule-based routing, status tracking, copying numbers between screens.</a:t>
            </a:r>
          </a:p>
        </p:txBody>
      </p:sp>
      <p:sp>
        <p:nvSpPr>
          <p:cNvPr id="15" name="Rounded Rectangle 14"/>
          <p:cNvSpPr/>
          <p:nvPr/>
        </p:nvSpPr>
        <p:spPr>
          <a:xfrm>
            <a:off x="4490618" y="3383280"/>
            <a:ext cx="3210458" cy="2651760"/>
          </a:xfrm>
          <a:prstGeom prst="roundRect">
            <a:avLst>
              <a:gd name="adj" fmla="val 862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64938" y="361188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MECHANISM 02</a:t>
            </a:r>
          </a:p>
        </p:txBody>
      </p:sp>
      <p:sp>
        <p:nvSpPr>
          <p:cNvPr id="17" name="TextBox 16"/>
          <p:cNvSpPr txBox="1"/>
          <p:nvPr/>
        </p:nvSpPr>
        <p:spPr>
          <a:xfrm>
            <a:off x="4764938" y="3886200"/>
            <a:ext cx="2661818" cy="457200"/>
          </a:xfrm>
          <a:prstGeom prst="rect">
            <a:avLst/>
          </a:prstGeom>
          <a:noFill/>
        </p:spPr>
        <p:txBody>
          <a:bodyPr wrap="square" lIns="0" rIns="0" tIns="0" bIns="0" anchor="t">
            <a:spAutoFit/>
          </a:bodyPr>
          <a:lstStyle/>
          <a:p>
            <a:pPr algn="l">
              <a:lnSpc>
                <a:spcPct val="120000"/>
              </a:lnSpc>
            </a:pPr>
            <a:r>
              <a:rPr sz="2200" b="1" i="0">
                <a:solidFill>
                  <a:srgbClr val="1D1D1F"/>
                </a:solidFill>
                <a:latin typeface="Inter"/>
              </a:rPr>
              <a:t>Digital System</a:t>
            </a:r>
          </a:p>
        </p:txBody>
      </p:sp>
      <p:sp>
        <p:nvSpPr>
          <p:cNvPr id="18" name="TextBox 17"/>
          <p:cNvSpPr txBox="1"/>
          <p:nvPr/>
        </p:nvSpPr>
        <p:spPr>
          <a:xfrm>
            <a:off x="4764938" y="4434840"/>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BEST FOR</a:t>
            </a:r>
          </a:p>
        </p:txBody>
      </p:sp>
      <p:sp>
        <p:nvSpPr>
          <p:cNvPr id="19" name="TextBox 18"/>
          <p:cNvSpPr txBox="1"/>
          <p:nvPr/>
        </p:nvSpPr>
        <p:spPr>
          <a:xfrm>
            <a:off x="4764938" y="466344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Consistent rule-based workflows, record-keeping, scheduled reporting, cross-department visibility.</a:t>
            </a:r>
          </a:p>
        </p:txBody>
      </p:sp>
      <p:sp>
        <p:nvSpPr>
          <p:cNvPr id="20" name="TextBox 19"/>
          <p:cNvSpPr txBox="1"/>
          <p:nvPr/>
        </p:nvSpPr>
        <p:spPr>
          <a:xfrm>
            <a:off x="4764938" y="5257799"/>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WORST FOR</a:t>
            </a:r>
          </a:p>
        </p:txBody>
      </p:sp>
      <p:sp>
        <p:nvSpPr>
          <p:cNvPr id="21" name="TextBox 20"/>
          <p:cNvSpPr txBox="1"/>
          <p:nvPr/>
        </p:nvSpPr>
        <p:spPr>
          <a:xfrm>
            <a:off x="4764938" y="548640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Interpreting ambiguous situations, moments requiring human judgement and accountability.</a:t>
            </a:r>
          </a:p>
        </p:txBody>
      </p:sp>
      <p:sp>
        <p:nvSpPr>
          <p:cNvPr id="22" name="Rounded Rectangle 21"/>
          <p:cNvSpPr/>
          <p:nvPr/>
        </p:nvSpPr>
        <p:spPr>
          <a:xfrm>
            <a:off x="7883956" y="3383280"/>
            <a:ext cx="3210458" cy="2651760"/>
          </a:xfrm>
          <a:prstGeom prst="roundRect">
            <a:avLst>
              <a:gd name="adj" fmla="val 862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58276" y="3611880"/>
            <a:ext cx="2661818" cy="274320"/>
          </a:xfrm>
          <a:prstGeom prst="rect">
            <a:avLst/>
          </a:prstGeom>
          <a:noFill/>
        </p:spPr>
        <p:txBody>
          <a:bodyPr wrap="square" lIns="0" rIns="0" tIns="0" bIns="0" anchor="t">
            <a:spAutoFit/>
          </a:bodyPr>
          <a:lstStyle/>
          <a:p>
            <a:pPr algn="l">
              <a:lnSpc>
                <a:spcPct val="120000"/>
              </a:lnSpc>
            </a:pPr>
            <a:r>
              <a:rPr sz="1000" b="1" i="0" spc="160">
                <a:solidFill>
                  <a:srgbClr val="0071E3"/>
                </a:solidFill>
                <a:latin typeface="Inter"/>
              </a:rPr>
              <a:t>MECHANISM 03</a:t>
            </a:r>
          </a:p>
        </p:txBody>
      </p:sp>
      <p:sp>
        <p:nvSpPr>
          <p:cNvPr id="24" name="TextBox 23"/>
          <p:cNvSpPr txBox="1"/>
          <p:nvPr/>
        </p:nvSpPr>
        <p:spPr>
          <a:xfrm>
            <a:off x="8158276" y="3886200"/>
            <a:ext cx="2661818" cy="457200"/>
          </a:xfrm>
          <a:prstGeom prst="rect">
            <a:avLst/>
          </a:prstGeom>
          <a:noFill/>
        </p:spPr>
        <p:txBody>
          <a:bodyPr wrap="square" lIns="0" rIns="0" tIns="0" bIns="0" anchor="t">
            <a:spAutoFit/>
          </a:bodyPr>
          <a:lstStyle/>
          <a:p>
            <a:pPr algn="l">
              <a:lnSpc>
                <a:spcPct val="120000"/>
              </a:lnSpc>
            </a:pPr>
            <a:r>
              <a:rPr sz="2200" b="1" i="0">
                <a:solidFill>
                  <a:srgbClr val="1D1D1F"/>
                </a:solidFill>
                <a:latin typeface="Inter"/>
              </a:rPr>
              <a:t>AI</a:t>
            </a:r>
          </a:p>
        </p:txBody>
      </p:sp>
      <p:sp>
        <p:nvSpPr>
          <p:cNvPr id="25" name="TextBox 24"/>
          <p:cNvSpPr txBox="1"/>
          <p:nvPr/>
        </p:nvSpPr>
        <p:spPr>
          <a:xfrm>
            <a:off x="8158276" y="4434840"/>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BEST FOR</a:t>
            </a:r>
          </a:p>
        </p:txBody>
      </p:sp>
      <p:sp>
        <p:nvSpPr>
          <p:cNvPr id="26" name="TextBox 25"/>
          <p:cNvSpPr txBox="1"/>
          <p:nvPr/>
        </p:nvSpPr>
        <p:spPr>
          <a:xfrm>
            <a:off x="8158276" y="466344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Pattern recognition, forecasting, classification, natural language — but only once clean data exists.</a:t>
            </a:r>
          </a:p>
        </p:txBody>
      </p:sp>
      <p:sp>
        <p:nvSpPr>
          <p:cNvPr id="27" name="TextBox 26"/>
          <p:cNvSpPr txBox="1"/>
          <p:nvPr/>
        </p:nvSpPr>
        <p:spPr>
          <a:xfrm>
            <a:off x="8158276" y="5257799"/>
            <a:ext cx="2661818"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WORST FOR</a:t>
            </a:r>
          </a:p>
        </p:txBody>
      </p:sp>
      <p:sp>
        <p:nvSpPr>
          <p:cNvPr id="28" name="TextBox 27"/>
          <p:cNvSpPr txBox="1"/>
          <p:nvPr/>
        </p:nvSpPr>
        <p:spPr>
          <a:xfrm>
            <a:off x="8158276" y="5486400"/>
            <a:ext cx="2661818" cy="548640"/>
          </a:xfrm>
          <a:prstGeom prst="rect">
            <a:avLst/>
          </a:prstGeom>
          <a:noFill/>
        </p:spPr>
        <p:txBody>
          <a:bodyPr wrap="square" lIns="0" rIns="0" tIns="0" bIns="0" anchor="t">
            <a:spAutoFit/>
          </a:bodyPr>
          <a:lstStyle/>
          <a:p>
            <a:pPr algn="l">
              <a:lnSpc>
                <a:spcPct val="145000"/>
              </a:lnSpc>
            </a:pPr>
            <a:r>
              <a:rPr sz="1000" b="0" i="0">
                <a:solidFill>
                  <a:srgbClr val="6E6E73"/>
                </a:solidFill>
                <a:latin typeface="Inter"/>
              </a:rPr>
              <a:t>Anything requiring accountability without oversight, or situations with no training data to learn from.</a:t>
            </a:r>
          </a:p>
        </p:txBody>
      </p:sp>
      <p:sp>
        <p:nvSpPr>
          <p:cNvPr id="29" name="TextBox 28"/>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SUSTAINABLE BUSINESS. EASIER LIFE. AI-READY IN 6–12 MONTHS — NATURALLY.</a:t>
            </a:r>
          </a:p>
        </p:txBody>
      </p:sp>
      <p:sp>
        <p:nvSpPr>
          <p:cNvPr id="30" name="TextBox 29"/>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19 </a:t>
            </a:r>
            <a:r>
              <a:rPr sz="1000" b="1" i="0" spc="160">
                <a:solidFill>
                  <a:srgbClr val="86868B"/>
                </a:solidFill>
                <a:latin typeface="Inter"/>
              </a:rPr>
              <a:t>/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20040"/>
            <a:ext cx="3657600" cy="274320"/>
          </a:xfrm>
          <a:prstGeom prst="rect">
            <a:avLst/>
          </a:prstGeom>
          <a:noFill/>
        </p:spPr>
        <p:txBody>
          <a:bodyPr wrap="square" lIns="0" rIns="0" tIns="0" bIns="0" anchor="t">
            <a:spAutoFit/>
          </a:bodyPr>
          <a:lstStyle/>
          <a:p>
            <a:pPr algn="l">
              <a:lnSpc>
                <a:spcPct val="120000"/>
              </a:lnSpc>
            </a:pPr>
            <a:r>
              <a:rPr sz="1000" b="1" i="0" spc="160">
                <a:solidFill>
                  <a:srgbClr val="1D1D1F"/>
                </a:solidFill>
                <a:latin typeface="Inter"/>
              </a:rPr>
              <a:t>VELO WORKING</a:t>
            </a:r>
          </a:p>
        </p:txBody>
      </p:sp>
      <p:sp>
        <p:nvSpPr>
          <p:cNvPr id="4" name="TextBox 3"/>
          <p:cNvSpPr txBox="1"/>
          <p:nvPr/>
        </p:nvSpPr>
        <p:spPr>
          <a:xfrm>
            <a:off x="6979615" y="320040"/>
            <a:ext cx="4114800" cy="274320"/>
          </a:xfrm>
          <a:prstGeom prst="rect">
            <a:avLst/>
          </a:prstGeom>
          <a:noFill/>
        </p:spPr>
        <p:txBody>
          <a:bodyPr wrap="square" lIns="0" rIns="0" tIns="0" bIns="0" anchor="t">
            <a:spAutoFit/>
          </a:bodyPr>
          <a:lstStyle/>
          <a:p>
            <a:pPr algn="r">
              <a:lnSpc>
                <a:spcPct val="120000"/>
              </a:lnSpc>
            </a:pPr>
            <a:r>
              <a:rPr sz="1000" b="1" i="0" spc="160">
                <a:solidFill>
                  <a:srgbClr val="6E6E73"/>
                </a:solidFill>
                <a:latin typeface="Inter"/>
              </a:rPr>
              <a:t>ACT 3 · ONE NEXT STEP · 20</a:t>
            </a:r>
          </a:p>
        </p:txBody>
      </p:sp>
      <p:sp>
        <p:nvSpPr>
          <p:cNvPr id="5" name="Rectangle 4"/>
          <p:cNvSpPr/>
          <p:nvPr/>
        </p:nvSpPr>
        <p:spPr>
          <a:xfrm>
            <a:off x="1097280" y="777240"/>
            <a:ext cx="548640" cy="19050"/>
          </a:xfrm>
          <a:prstGeom prst="rect">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941832"/>
            <a:ext cx="9144000" cy="274320"/>
          </a:xfrm>
          <a:prstGeom prst="rect">
            <a:avLst/>
          </a:prstGeom>
          <a:noFill/>
        </p:spPr>
        <p:txBody>
          <a:bodyPr wrap="square" lIns="0" rIns="0" tIns="0" bIns="0" anchor="t">
            <a:spAutoFit/>
          </a:bodyPr>
          <a:lstStyle/>
          <a:p>
            <a:pPr algn="l">
              <a:lnSpc>
                <a:spcPct val="120000"/>
              </a:lnSpc>
            </a:pPr>
            <a:r>
              <a:rPr sz="1100" b="1" i="0" spc="160">
                <a:solidFill>
                  <a:srgbClr val="0071E3"/>
                </a:solidFill>
                <a:latin typeface="Inter"/>
              </a:rPr>
              <a:t>ONE SMALL STEP. ZERO COMMITMENT.</a:t>
            </a:r>
          </a:p>
        </p:txBody>
      </p:sp>
      <p:sp>
        <p:nvSpPr>
          <p:cNvPr id="7" name="TextBox 6"/>
          <p:cNvSpPr txBox="1"/>
          <p:nvPr/>
        </p:nvSpPr>
        <p:spPr>
          <a:xfrm>
            <a:off x="1097280" y="1371600"/>
            <a:ext cx="5486400" cy="4114800"/>
          </a:xfrm>
          <a:prstGeom prst="rect">
            <a:avLst/>
          </a:prstGeom>
          <a:noFill/>
        </p:spPr>
        <p:txBody>
          <a:bodyPr wrap="square" lIns="0" rIns="0" tIns="0" bIns="0" anchor="t">
            <a:spAutoFit/>
          </a:bodyPr>
          <a:lstStyle/>
          <a:p>
            <a:pPr algn="l">
              <a:lnSpc>
                <a:spcPct val="105000"/>
              </a:lnSpc>
            </a:pPr>
            <a:r>
              <a:rPr sz="6000" b="1" i="0">
                <a:solidFill>
                  <a:srgbClr val="1D1D1F"/>
                </a:solidFill>
                <a:latin typeface="Inter"/>
              </a:rPr>
              <a:t>Book a</a:t>
            </a:r>
          </a:p>
          <a:p>
            <a:pPr algn="l">
              <a:lnSpc>
                <a:spcPct val="105000"/>
              </a:lnSpc>
            </a:pPr>
            <a:r>
              <a:rPr sz="6000" b="1" i="0">
                <a:solidFill>
                  <a:srgbClr val="1D1D1F"/>
                </a:solidFill>
                <a:latin typeface="Inter"/>
              </a:rPr>
              <a:t>30-minute</a:t>
            </a:r>
          </a:p>
          <a:p>
            <a:pPr algn="l">
              <a:lnSpc>
                <a:spcPct val="105000"/>
              </a:lnSpc>
            </a:pPr>
            <a:r>
              <a:rPr sz="6000" b="1" i="1">
                <a:solidFill>
                  <a:srgbClr val="0071E3"/>
                </a:solidFill>
                <a:latin typeface="Inter"/>
              </a:rPr>
              <a:t>diagnostic.</a:t>
            </a:r>
          </a:p>
        </p:txBody>
      </p:sp>
      <p:sp>
        <p:nvSpPr>
          <p:cNvPr id="8" name="TextBox 7"/>
          <p:cNvSpPr txBox="1"/>
          <p:nvPr/>
        </p:nvSpPr>
        <p:spPr>
          <a:xfrm>
            <a:off x="7040880" y="1371600"/>
            <a:ext cx="4389120" cy="1280160"/>
          </a:xfrm>
          <a:prstGeom prst="rect">
            <a:avLst/>
          </a:prstGeom>
          <a:noFill/>
        </p:spPr>
        <p:txBody>
          <a:bodyPr wrap="square" lIns="0" rIns="0" tIns="0" bIns="0" anchor="t">
            <a:spAutoFit/>
          </a:bodyPr>
          <a:lstStyle/>
          <a:p>
            <a:pPr algn="l">
              <a:lnSpc>
                <a:spcPct val="145000"/>
              </a:lnSpc>
            </a:pPr>
            <a:r>
              <a:rPr sz="1400" b="0" i="0">
                <a:solidFill>
                  <a:srgbClr val="6E6E73"/>
                </a:solidFill>
                <a:latin typeface="Inter"/>
              </a:rPr>
              <a:t>Not a sales call. We walk your floor (or your screens), quantify what the current operation is actually costing you — in hours, dollars, risk — and tell you straight whether a system is worth it.</a:t>
            </a:r>
          </a:p>
        </p:txBody>
      </p:sp>
      <p:sp>
        <p:nvSpPr>
          <p:cNvPr id="9" name="TextBox 8"/>
          <p:cNvSpPr txBox="1"/>
          <p:nvPr/>
        </p:nvSpPr>
        <p:spPr>
          <a:xfrm>
            <a:off x="7040880" y="3017520"/>
            <a:ext cx="4389120" cy="640080"/>
          </a:xfrm>
          <a:prstGeom prst="rect">
            <a:avLst/>
          </a:prstGeom>
          <a:noFill/>
        </p:spPr>
        <p:txBody>
          <a:bodyPr wrap="square" lIns="0" rIns="0" tIns="0" bIns="0" anchor="t">
            <a:spAutoFit/>
          </a:bodyPr>
          <a:lstStyle/>
          <a:p>
            <a:pPr algn="l">
              <a:lnSpc>
                <a:spcPct val="140000"/>
              </a:lnSpc>
            </a:pPr>
            <a:r>
              <a:rPr sz="1400" b="1" i="1">
                <a:solidFill>
                  <a:srgbClr val="0071E3"/>
                </a:solidFill>
                <a:latin typeface="Inter"/>
              </a:rPr>
              <a:t>If it's not worth it for your business — we'll say so.</a:t>
            </a:r>
          </a:p>
        </p:txBody>
      </p:sp>
      <p:sp>
        <p:nvSpPr>
          <p:cNvPr id="10" name="Rounded Rectangle 9"/>
          <p:cNvSpPr/>
          <p:nvPr/>
        </p:nvSpPr>
        <p:spPr>
          <a:xfrm>
            <a:off x="7040880" y="3749039"/>
            <a:ext cx="2560320" cy="502920"/>
          </a:xfrm>
          <a:prstGeom prst="roundRect">
            <a:avLst>
              <a:gd name="adj" fmla="val 50000"/>
            </a:avLst>
          </a:prstGeom>
          <a:solidFill>
            <a:srgbClr val="0071E3"/>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ctr"/>
            <a:r>
              <a:rPr sz="1400" b="0">
                <a:solidFill>
                  <a:srgbClr val="FFFFFF"/>
                </a:solidFill>
                <a:latin typeface="Inter"/>
              </a:rPr>
              <a:t>Book the diagnostic  →</a:t>
            </a:r>
          </a:p>
        </p:txBody>
      </p:sp>
      <p:cxnSp>
        <p:nvCxnSpPr>
          <p:cNvPr id="11" name="Connector 10"/>
          <p:cNvCxnSpPr/>
          <p:nvPr/>
        </p:nvCxnSpPr>
        <p:spPr>
          <a:xfrm>
            <a:off x="7040880" y="4572000"/>
            <a:ext cx="438912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40880" y="4709160"/>
            <a:ext cx="1371600"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FOUNDER</a:t>
            </a:r>
          </a:p>
        </p:txBody>
      </p:sp>
      <p:sp>
        <p:nvSpPr>
          <p:cNvPr id="13" name="TextBox 12"/>
          <p:cNvSpPr txBox="1"/>
          <p:nvPr/>
        </p:nvSpPr>
        <p:spPr>
          <a:xfrm>
            <a:off x="7040880" y="5029200"/>
            <a:ext cx="1371600" cy="457200"/>
          </a:xfrm>
          <a:prstGeom prst="rect">
            <a:avLst/>
          </a:prstGeom>
          <a:noFill/>
        </p:spPr>
        <p:txBody>
          <a:bodyPr wrap="square" lIns="0" rIns="0" tIns="0" bIns="0" anchor="t">
            <a:spAutoFit/>
          </a:bodyPr>
          <a:lstStyle/>
          <a:p>
            <a:pPr algn="l">
              <a:lnSpc>
                <a:spcPct val="120000"/>
              </a:lnSpc>
            </a:pPr>
            <a:r>
              <a:rPr sz="1300" b="1" i="0">
                <a:solidFill>
                  <a:srgbClr val="1D1D1F"/>
                </a:solidFill>
                <a:latin typeface="Inter"/>
              </a:rPr>
              <a:t>Ronnie Yap</a:t>
            </a:r>
          </a:p>
        </p:txBody>
      </p:sp>
      <p:sp>
        <p:nvSpPr>
          <p:cNvPr id="14" name="TextBox 13"/>
          <p:cNvSpPr txBox="1"/>
          <p:nvPr/>
        </p:nvSpPr>
        <p:spPr>
          <a:xfrm>
            <a:off x="8503920" y="4709160"/>
            <a:ext cx="1371600"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WHATSAPP / PHONE</a:t>
            </a:r>
          </a:p>
        </p:txBody>
      </p:sp>
      <p:sp>
        <p:nvSpPr>
          <p:cNvPr id="15" name="TextBox 14"/>
          <p:cNvSpPr txBox="1"/>
          <p:nvPr/>
        </p:nvSpPr>
        <p:spPr>
          <a:xfrm>
            <a:off x="8503920" y="5029200"/>
            <a:ext cx="1371600" cy="457200"/>
          </a:xfrm>
          <a:prstGeom prst="rect">
            <a:avLst/>
          </a:prstGeom>
          <a:noFill/>
        </p:spPr>
        <p:txBody>
          <a:bodyPr wrap="square" lIns="0" rIns="0" tIns="0" bIns="0" anchor="t">
            <a:spAutoFit/>
          </a:bodyPr>
          <a:lstStyle/>
          <a:p>
            <a:pPr algn="l">
              <a:lnSpc>
                <a:spcPct val="120000"/>
              </a:lnSpc>
            </a:pPr>
            <a:r>
              <a:rPr sz="1300" b="1" i="0">
                <a:solidFill>
                  <a:srgbClr val="1D1D1F"/>
                </a:solidFill>
                <a:latin typeface="Inter"/>
              </a:rPr>
              <a:t>+65 9894 3004</a:t>
            </a:r>
          </a:p>
        </p:txBody>
      </p:sp>
      <p:sp>
        <p:nvSpPr>
          <p:cNvPr id="16" name="TextBox 15"/>
          <p:cNvSpPr txBox="1"/>
          <p:nvPr/>
        </p:nvSpPr>
        <p:spPr>
          <a:xfrm>
            <a:off x="9966960" y="4709160"/>
            <a:ext cx="1371600" cy="274320"/>
          </a:xfrm>
          <a:prstGeom prst="rect">
            <a:avLst/>
          </a:prstGeom>
          <a:noFill/>
        </p:spPr>
        <p:txBody>
          <a:bodyPr wrap="square" lIns="0" rIns="0" tIns="0" bIns="0" anchor="t">
            <a:spAutoFit/>
          </a:bodyPr>
          <a:lstStyle/>
          <a:p>
            <a:pPr algn="l">
              <a:lnSpc>
                <a:spcPct val="120000"/>
              </a:lnSpc>
            </a:pPr>
            <a:r>
              <a:rPr sz="800" b="1" i="0" spc="160">
                <a:solidFill>
                  <a:srgbClr val="86868B"/>
                </a:solidFill>
                <a:latin typeface="Inter"/>
              </a:rPr>
              <a:t>EMAIL</a:t>
            </a:r>
          </a:p>
        </p:txBody>
      </p:sp>
      <p:sp>
        <p:nvSpPr>
          <p:cNvPr id="17" name="TextBox 16"/>
          <p:cNvSpPr txBox="1"/>
          <p:nvPr/>
        </p:nvSpPr>
        <p:spPr>
          <a:xfrm>
            <a:off x="9966960" y="5029200"/>
            <a:ext cx="1371600" cy="457200"/>
          </a:xfrm>
          <a:prstGeom prst="rect">
            <a:avLst/>
          </a:prstGeom>
          <a:noFill/>
        </p:spPr>
        <p:txBody>
          <a:bodyPr wrap="square" lIns="0" rIns="0" tIns="0" bIns="0" anchor="t">
            <a:spAutoFit/>
          </a:bodyPr>
          <a:lstStyle/>
          <a:p>
            <a:pPr algn="l">
              <a:lnSpc>
                <a:spcPct val="120000"/>
              </a:lnSpc>
            </a:pPr>
            <a:r>
              <a:rPr sz="1000" b="1" i="0">
                <a:solidFill>
                  <a:srgbClr val="1D1D1F"/>
                </a:solidFill>
                <a:latin typeface="Inter"/>
              </a:rPr>
              <a:t>ronnie.yap@veloworking.com</a:t>
            </a:r>
          </a:p>
        </p:txBody>
      </p:sp>
      <p:sp>
        <p:nvSpPr>
          <p:cNvPr id="18" name="TextBox 17"/>
          <p:cNvSpPr txBox="1"/>
          <p:nvPr/>
        </p:nvSpPr>
        <p:spPr>
          <a:xfrm>
            <a:off x="1097280" y="6492240"/>
            <a:ext cx="7315200" cy="274320"/>
          </a:xfrm>
          <a:prstGeom prst="rect">
            <a:avLst/>
          </a:prstGeom>
          <a:noFill/>
        </p:spPr>
        <p:txBody>
          <a:bodyPr wrap="square" lIns="0" rIns="0" tIns="0" bIns="0" anchor="t">
            <a:spAutoFit/>
          </a:bodyPr>
          <a:lstStyle/>
          <a:p>
            <a:pPr algn="l">
              <a:lnSpc>
                <a:spcPct val="120000"/>
              </a:lnSpc>
            </a:pPr>
            <a:r>
              <a:rPr sz="900" b="1" i="0" spc="160">
                <a:solidFill>
                  <a:srgbClr val="86868B"/>
                </a:solidFill>
                <a:latin typeface="Inter"/>
              </a:rPr>
              <a:t>BUILT FOR THE ONES STILL STANDING.</a:t>
            </a:r>
          </a:p>
        </p:txBody>
      </p:sp>
      <p:sp>
        <p:nvSpPr>
          <p:cNvPr id="19" name="TextBox 18"/>
          <p:cNvSpPr txBox="1"/>
          <p:nvPr/>
        </p:nvSpPr>
        <p:spPr>
          <a:xfrm>
            <a:off x="9265615" y="6492240"/>
            <a:ext cx="1828800" cy="274320"/>
          </a:xfrm>
          <a:prstGeom prst="rect">
            <a:avLst/>
          </a:prstGeom>
          <a:noFill/>
        </p:spPr>
        <p:txBody>
          <a:bodyPr wrap="square" lIns="0" rIns="0" tIns="0" bIns="0" anchor="t">
            <a:spAutoFit/>
          </a:bodyPr>
          <a:lstStyle/>
          <a:p>
            <a:pPr algn="r">
              <a:lnSpc>
                <a:spcPct val="120000"/>
              </a:lnSpc>
            </a:pPr>
            <a:r>
              <a:rPr sz="1000" b="1" i="0">
                <a:solidFill>
                  <a:srgbClr val="0071E3"/>
                </a:solidFill>
                <a:latin typeface="Inter"/>
              </a:rPr>
              <a:t>20 </a:t>
            </a:r>
            <a:r>
              <a:rPr sz="1000" b="1" i="0" spc="160">
                <a:solidFill>
                  <a:srgbClr val="86868B"/>
                </a:solidFill>
                <a:latin typeface="Inter"/>
              </a:rPr>
              <a:t>/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